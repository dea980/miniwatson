
<file path=[Content_Types].xml><?xml version="1.0" encoding="utf-8"?>
<Types xmlns="http://schemas.openxmlformats.org/package/2006/content-types"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hREET+mWU/pnn3Ve5YbV9EK3dI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BC92258-191E-403A-88F9-7375E030F135}">
  <a:tblStyle styleId="{EBC92258-191E-403A-88F9-7375E030F13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74521"/>
  </p:normalViewPr>
  <p:slideViewPr>
    <p:cSldViewPr snapToGrid="0">
      <p:cViewPr varScale="1">
        <p:scale>
          <a:sx n="93" d="100"/>
          <a:sy n="93" d="100"/>
        </p:scale>
        <p:origin x="1344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-116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ko-KR" altLang="en-US" dirty="0"/>
              <a:t>안녕하십니까</a:t>
            </a:r>
            <a:r>
              <a:rPr lang="en-US" altLang="ko-KR" dirty="0"/>
              <a:t>.</a:t>
            </a:r>
            <a:r>
              <a:rPr lang="ko-KR" altLang="en-US" dirty="0"/>
              <a:t> 이번에 리뷰할 논문은 “</a:t>
            </a:r>
            <a:r>
              <a:rPr lang="en-US" dirty="0" err="1"/>
              <a:t>AgentClinic</a:t>
            </a:r>
            <a:r>
              <a:rPr lang="en-US" dirty="0"/>
              <a:t>: </a:t>
            </a:r>
          </a:p>
          <a:p>
            <a:r>
              <a:rPr lang="en-US" dirty="0"/>
              <a:t>a multimodal agent benchmark</a:t>
            </a:r>
          </a:p>
          <a:p>
            <a:r>
              <a:rPr lang="en-US" dirty="0"/>
              <a:t> to evaluate AI </a:t>
            </a:r>
          </a:p>
          <a:p>
            <a:r>
              <a:rPr lang="en-US" dirty="0"/>
              <a:t>in simulated clinical environments</a:t>
            </a:r>
            <a:r>
              <a:rPr lang="ko-KR" altLang="en-US" dirty="0"/>
              <a:t> </a:t>
            </a:r>
            <a:r>
              <a:rPr lang="ko-KR" altLang="en-US" dirty="0" err="1"/>
              <a:t>라고</a:t>
            </a:r>
            <a:r>
              <a:rPr lang="ko-KR" altLang="en-US" dirty="0"/>
              <a:t> 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 발표는 “왜 기존 벤치마크가 실제 임상과 다르고”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“</a:t>
            </a:r>
            <a:r>
              <a:rPr lang="en-US" dirty="0" err="1"/>
              <a:t>AgentClinic</a:t>
            </a:r>
            <a:r>
              <a:rPr lang="ko-KR" altLang="en-US" dirty="0"/>
              <a:t>이 그 갭을 어떻게 메우려 했는지”</a:t>
            </a:r>
            <a:r>
              <a:rPr lang="en-US" altLang="ko-KR" dirty="0"/>
              <a:t>, </a:t>
            </a:r>
            <a:r>
              <a:rPr lang="ko-KR" altLang="en-US" dirty="0"/>
              <a:t>그리고 “실험 결과가 무엇을 의미하는지” 순서로 진행하겠습니다</a:t>
            </a:r>
          </a:p>
        </p:txBody>
      </p:sp>
      <p:sp>
        <p:nvSpPr>
          <p:cNvPr id="91" name="Google Shape;9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c896615d4_0_4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3bc896615d4_0_4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altLang="en-US" dirty="0"/>
              <a:t>우선 연구 배경입니다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현재 의료 </a:t>
            </a:r>
            <a:r>
              <a:rPr lang="en-US" dirty="0"/>
              <a:t>AI </a:t>
            </a:r>
            <a:r>
              <a:rPr lang="ko-KR" altLang="en-US" dirty="0"/>
              <a:t>평가는 주로 </a:t>
            </a:r>
            <a:r>
              <a:rPr lang="en-US" b="1" dirty="0" err="1"/>
              <a:t>MedQA</a:t>
            </a:r>
            <a:r>
              <a:rPr lang="en-US" b="1" dirty="0"/>
              <a:t> / USMLE </a:t>
            </a:r>
            <a:r>
              <a:rPr lang="ko-KR" altLang="en-US" b="1" dirty="0"/>
              <a:t>스타일의 </a:t>
            </a:r>
            <a:r>
              <a:rPr lang="en-US" b="1" dirty="0"/>
              <a:t>QA </a:t>
            </a:r>
            <a:r>
              <a:rPr lang="ko-KR" altLang="en-US" b="1" dirty="0"/>
              <a:t>형식을 띄고 있습니다</a:t>
            </a:r>
            <a:r>
              <a:rPr lang="en-US" altLang="ko-KR" b="1" dirty="0"/>
              <a:t>.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altLang="en-US" dirty="0"/>
              <a:t>구조는 </a:t>
            </a:r>
            <a:r>
              <a:rPr lang="ko-KR" altLang="en-US" b="1" dirty="0"/>
              <a:t>단일 질문에서  단일 정답이며</a:t>
            </a:r>
            <a:r>
              <a:rPr lang="en-US" altLang="ko-KR" b="1" dirty="0"/>
              <a:t>,</a:t>
            </a:r>
            <a:r>
              <a:rPr lang="ko-KR" altLang="en-US" dirty="0"/>
              <a:t> </a:t>
            </a:r>
            <a:r>
              <a:rPr lang="ko-KR" altLang="en-US" b="1" dirty="0"/>
              <a:t>정적 텍스트 기반으로 구성됩니다</a:t>
            </a:r>
            <a:r>
              <a:rPr lang="en-US" altLang="ko-KR" dirty="0"/>
              <a:t>. 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altLang="en-US" dirty="0"/>
              <a:t>그래서 결과적으로 “모델이 의학 지식을 얼마나 </a:t>
            </a:r>
            <a:r>
              <a:rPr lang="ko-KR" altLang="en-US" dirty="0" err="1"/>
              <a:t>아는지”는</a:t>
            </a:r>
            <a:r>
              <a:rPr lang="ko-KR" altLang="en-US" dirty="0"/>
              <a:t> 잘 측정하지만</a:t>
            </a:r>
            <a:r>
              <a:rPr lang="en-US" altLang="ko-KR" dirty="0"/>
              <a:t>, </a:t>
            </a:r>
            <a:r>
              <a:rPr lang="ko-KR" altLang="en-US" dirty="0"/>
              <a:t>실제 진료에서 중요한 과정은 빠집니다</a:t>
            </a:r>
            <a:r>
              <a:rPr lang="en-US" altLang="ko-KR" dirty="0"/>
              <a:t>. 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ko-KR" dirty="0"/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tabLst/>
              <a:defRPr/>
            </a:pPr>
            <a:r>
              <a:rPr lang="ko-KR" altLang="en-US" dirty="0"/>
              <a:t>하지만 실제 진료는 </a:t>
            </a:r>
            <a:r>
              <a:rPr lang="ko-KR" altLang="en-US" b="1" dirty="0"/>
              <a:t>환자와의 대화</a:t>
            </a:r>
            <a:r>
              <a:rPr lang="en-US" altLang="ko-KR" b="1" dirty="0"/>
              <a:t>(</a:t>
            </a:r>
            <a:r>
              <a:rPr lang="en-US" b="1" dirty="0"/>
              <a:t>history taking)</a:t>
            </a:r>
            <a:r>
              <a:rPr lang="en-US" dirty="0"/>
              <a:t>, </a:t>
            </a:r>
            <a:r>
              <a:rPr lang="ko-KR" altLang="en-US" b="1" dirty="0"/>
              <a:t>추가 검사 선택</a:t>
            </a:r>
            <a:r>
              <a:rPr lang="en-US" altLang="ko-KR" b="1" dirty="0"/>
              <a:t>(</a:t>
            </a:r>
            <a:r>
              <a:rPr lang="en-US" b="1" dirty="0"/>
              <a:t>test ordering)</a:t>
            </a:r>
            <a:r>
              <a:rPr lang="en-US" dirty="0"/>
              <a:t>, </a:t>
            </a:r>
            <a:r>
              <a:rPr lang="ko-KR" altLang="en-US" b="1" dirty="0"/>
              <a:t>순차적 의사결정</a:t>
            </a:r>
            <a:r>
              <a:rPr lang="ko-KR" altLang="en-US" dirty="0"/>
              <a:t>이 핵심이고</a:t>
            </a:r>
            <a:r>
              <a:rPr lang="en-US" altLang="ko-KR" dirty="0"/>
              <a:t>, </a:t>
            </a:r>
            <a:r>
              <a:rPr lang="ko-KR" altLang="en-US" dirty="0"/>
              <a:t>영상</a:t>
            </a:r>
            <a:r>
              <a:rPr lang="en-US" altLang="ko-KR" dirty="0"/>
              <a:t>·</a:t>
            </a:r>
            <a:r>
              <a:rPr lang="ko-KR" altLang="en-US" dirty="0"/>
              <a:t>검사 수치 같은 </a:t>
            </a:r>
            <a:r>
              <a:rPr lang="ko-KR" altLang="en-US" b="1" dirty="0" err="1"/>
              <a:t>멀티모달</a:t>
            </a:r>
            <a:r>
              <a:rPr lang="ko-KR" altLang="en-US" b="1" dirty="0"/>
              <a:t> 정보</a:t>
            </a:r>
            <a:r>
              <a:rPr lang="ko-KR" altLang="en-US" dirty="0"/>
              <a:t>를 함께 씁니다</a:t>
            </a:r>
            <a:r>
              <a:rPr lang="en-US" altLang="ko-KR" dirty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tabLst/>
              <a:defRPr/>
            </a:pPr>
            <a:r>
              <a:rPr lang="ko-KR" altLang="en-US" dirty="0"/>
              <a:t>이를 통해 “시험문제 </a:t>
            </a:r>
            <a:r>
              <a:rPr lang="ko-KR" altLang="en-US" dirty="0" err="1"/>
              <a:t>풀이”와</a:t>
            </a:r>
            <a:r>
              <a:rPr lang="ko-KR" altLang="en-US" dirty="0"/>
              <a:t> “진료” 사이에 평가 갭이 </a:t>
            </a:r>
            <a:r>
              <a:rPr lang="ko-KR" altLang="en-US" dirty="0" err="1"/>
              <a:t>존재한다라는</a:t>
            </a:r>
            <a:r>
              <a:rPr lang="ko-KR" altLang="en-US" dirty="0"/>
              <a:t> 가설로 이 연구가 시작되었습니다</a:t>
            </a:r>
            <a:r>
              <a:rPr lang="en-US" altLang="ko-KR" dirty="0"/>
              <a:t>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103" name="Google Shape;103;g3bc896615d4_0_47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c896615d4_0_5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g3bc896615d4_0_5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altLang="en-US" sz="1100" dirty="0" err="1"/>
              <a:t>이논문에서</a:t>
            </a:r>
            <a:r>
              <a:rPr lang="ko-KR" altLang="en-US" sz="1100" dirty="0"/>
              <a:t> 제시한 </a:t>
            </a:r>
            <a:r>
              <a:rPr lang="en-US" sz="1100" dirty="0" err="1"/>
              <a:t>AgentClinic</a:t>
            </a:r>
            <a:r>
              <a:rPr lang="ko-KR" altLang="en-US" sz="1100" dirty="0"/>
              <a:t>의 목표는 크게 다섯 가지가 됩니다</a:t>
            </a:r>
            <a:r>
              <a:rPr lang="en-US" altLang="ko-KR" sz="1100" dirty="0"/>
              <a:t>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altLang="en-US" sz="1100" dirty="0"/>
              <a:t>첫번째로</a:t>
            </a:r>
            <a:r>
              <a:rPr lang="en-US" altLang="ko-KR" sz="1100" dirty="0"/>
              <a:t>, </a:t>
            </a:r>
            <a:r>
              <a:rPr lang="en-US" sz="1100" b="1" dirty="0"/>
              <a:t>OSCE </a:t>
            </a:r>
            <a:r>
              <a:rPr lang="ko-KR" altLang="en-US" sz="1100" b="1" dirty="0"/>
              <a:t>스타일 시뮬레이션</a:t>
            </a:r>
            <a:r>
              <a:rPr lang="ko-KR" altLang="en-US" sz="1100" dirty="0"/>
              <a:t>입니다</a:t>
            </a:r>
            <a:r>
              <a:rPr lang="en-US" altLang="ko-KR" sz="1100" dirty="0"/>
              <a:t>. 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altLang="en-US" sz="1100" dirty="0"/>
              <a:t>실제 임상 실기시험 형태를 모방해서 진료 과정을 시뮬레이션형태로 실험을 진행했습니다</a:t>
            </a:r>
            <a:r>
              <a:rPr lang="en-US" altLang="ko-KR" sz="1100" dirty="0"/>
              <a:t>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ko-KR" sz="11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altLang="en-US" sz="1100" dirty="0"/>
              <a:t>둘번째로</a:t>
            </a:r>
            <a:r>
              <a:rPr lang="en-US" altLang="ko-KR" sz="1100" dirty="0"/>
              <a:t>, </a:t>
            </a:r>
            <a:r>
              <a:rPr lang="ko-KR" altLang="en-US" sz="1100" b="1" dirty="0"/>
              <a:t>멀티 에이전트 구조 입니다</a:t>
            </a:r>
            <a:r>
              <a:rPr lang="en-US" altLang="ko-KR" sz="1100" b="1" dirty="0"/>
              <a:t>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dirty="0"/>
              <a:t>Doctor/Patient/Measurement/Moderator</a:t>
            </a:r>
            <a:r>
              <a:rPr lang="ko-KR" altLang="en-US" sz="1100" dirty="0"/>
              <a:t>로 </a:t>
            </a:r>
            <a:r>
              <a:rPr lang="ko-KR" altLang="en-US" sz="1100" dirty="0" err="1"/>
              <a:t>나우어서</a:t>
            </a:r>
            <a:r>
              <a:rPr lang="en-US" altLang="ko-KR" sz="1100" dirty="0"/>
              <a:t>, </a:t>
            </a:r>
            <a:r>
              <a:rPr lang="ko-KR" altLang="en-US" sz="1100" dirty="0"/>
              <a:t>단일 </a:t>
            </a:r>
            <a:r>
              <a:rPr lang="en-US" sz="1100" dirty="0"/>
              <a:t>QA</a:t>
            </a:r>
            <a:r>
              <a:rPr lang="ko-KR" altLang="en-US" sz="1100" dirty="0"/>
              <a:t>가 아니라 진료 워크플로우를 재현합니다</a:t>
            </a:r>
            <a:r>
              <a:rPr lang="en-US" altLang="ko-KR" sz="1100" dirty="0"/>
              <a:t>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ko-KR" sz="11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altLang="en-US" sz="1100" dirty="0"/>
              <a:t>셋째</a:t>
            </a:r>
            <a:r>
              <a:rPr lang="en-US" altLang="ko-KR" sz="1100" dirty="0"/>
              <a:t>, </a:t>
            </a:r>
            <a:r>
              <a:rPr lang="ko-KR" altLang="en-US" sz="1100" b="1" dirty="0" err="1"/>
              <a:t>멀티모달환경입니다</a:t>
            </a:r>
            <a:r>
              <a:rPr lang="en-US" altLang="ko-KR" sz="1100" b="1" dirty="0"/>
              <a:t>. </a:t>
            </a:r>
            <a:r>
              <a:rPr lang="ko-KR" altLang="en-US" sz="1100" b="1" dirty="0"/>
              <a:t>이를 통해 </a:t>
            </a:r>
            <a:r>
              <a:rPr lang="ko-KR" altLang="en-US" sz="1100" dirty="0"/>
              <a:t>텍스트 대화뿐</a:t>
            </a:r>
            <a:endParaRPr lang="en-US" altLang="ko-KR" sz="11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altLang="en-US" sz="1100" dirty="0"/>
              <a:t> 아니라 </a:t>
            </a:r>
            <a:r>
              <a:rPr lang="en-US" sz="1100" dirty="0"/>
              <a:t>X-ray, MRI </a:t>
            </a:r>
            <a:r>
              <a:rPr lang="ko-KR" altLang="en-US" sz="1100" dirty="0"/>
              <a:t>같은 영상 기반 진단을 포함합니다</a:t>
            </a:r>
            <a:r>
              <a:rPr lang="en-US" altLang="ko-KR" sz="1100" dirty="0"/>
              <a:t>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ko-KR" sz="11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altLang="en-US" sz="1100" dirty="0"/>
              <a:t>넷째</a:t>
            </a:r>
            <a:r>
              <a:rPr lang="en-US" altLang="ko-KR" sz="1100" dirty="0"/>
              <a:t>, </a:t>
            </a:r>
            <a:r>
              <a:rPr lang="en-US" sz="1100" b="1" dirty="0"/>
              <a:t>Bias simulatio</a:t>
            </a:r>
            <a:r>
              <a:rPr lang="en-US" altLang="ko-KR" sz="1100" b="1" dirty="0"/>
              <a:t>n</a:t>
            </a:r>
            <a:r>
              <a:rPr lang="ko-KR" altLang="en-US" sz="1100" b="1" dirty="0"/>
              <a:t> 입니다 </a:t>
            </a:r>
            <a:r>
              <a:rPr lang="ko-KR" altLang="en-US" sz="1100" dirty="0"/>
              <a:t>인지적</a:t>
            </a:r>
            <a:r>
              <a:rPr lang="en-US" altLang="ko-KR" sz="1100" dirty="0"/>
              <a:t>/</a:t>
            </a:r>
            <a:r>
              <a:rPr lang="ko-KR" altLang="en-US" sz="1100" dirty="0"/>
              <a:t>암묵적 편향을 프롬프트로 주입해 현실적인 상황을 만듭니다</a:t>
            </a:r>
            <a:r>
              <a:rPr lang="en-US" altLang="ko-KR" sz="1100" dirty="0"/>
              <a:t>,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ko-KR" sz="11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altLang="en-US" sz="1100" dirty="0"/>
              <a:t>다섯번째</a:t>
            </a:r>
            <a:r>
              <a:rPr lang="en-US" altLang="ko-KR" sz="1100" dirty="0"/>
              <a:t>, </a:t>
            </a:r>
            <a:r>
              <a:rPr lang="en-US" sz="1100" b="1" dirty="0"/>
              <a:t>patient-centered </a:t>
            </a:r>
            <a:r>
              <a:rPr lang="en-US" sz="1100" b="1" dirty="0" err="1"/>
              <a:t>metrics와</a:t>
            </a:r>
            <a:r>
              <a:rPr lang="en-US" sz="1100" b="1" dirty="0"/>
              <a:t> </a:t>
            </a:r>
            <a:r>
              <a:rPr lang="en-US" sz="1100" b="1" dirty="0" err="1"/>
              <a:t>다국어평가</a:t>
            </a:r>
            <a:r>
              <a:rPr lang="en-US" sz="1100" b="1" dirty="0"/>
              <a:t> </a:t>
            </a:r>
            <a:r>
              <a:rPr lang="en-US" sz="1100" b="1" dirty="0" err="1"/>
              <a:t>그리고</a:t>
            </a:r>
            <a:r>
              <a:rPr lang="ko-KR" altLang="en-US" sz="1100" dirty="0"/>
              <a:t> 여러 전문과 케이스까지 포함해서 보다 다양한 진단 상황을 </a:t>
            </a:r>
            <a:r>
              <a:rPr lang="ko-KR" altLang="en-US" sz="1100" dirty="0" err="1"/>
              <a:t>평가할수</a:t>
            </a:r>
            <a:r>
              <a:rPr lang="ko-KR" altLang="en-US" sz="1100" dirty="0"/>
              <a:t> </a:t>
            </a:r>
            <a:r>
              <a:rPr lang="ko-KR" altLang="en-US" sz="1100" dirty="0" err="1"/>
              <a:t>있것을</a:t>
            </a:r>
            <a:r>
              <a:rPr lang="ko-KR" altLang="en-US" sz="1100" dirty="0"/>
              <a:t> 목표로 합니다</a:t>
            </a:r>
            <a:r>
              <a:rPr lang="en-US" altLang="ko-KR" sz="1100" dirty="0"/>
              <a:t>. 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bc896615d4_0_5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c896615d4_0_3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bc896615d4_0_3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/>
              <a:t>이번</a:t>
            </a:r>
            <a:r>
              <a:rPr lang="en-US" dirty="0"/>
              <a:t> </a:t>
            </a:r>
            <a:r>
              <a:rPr lang="en-US" dirty="0" err="1"/>
              <a:t>AgentClinic에서</a:t>
            </a:r>
            <a:r>
              <a:rPr lang="en-US" dirty="0"/>
              <a:t> </a:t>
            </a:r>
            <a:r>
              <a:rPr lang="en-US" dirty="0" err="1"/>
              <a:t>제안한</a:t>
            </a:r>
            <a:r>
              <a:rPr lang="en-US" dirty="0"/>
              <a:t> OSCE</a:t>
            </a:r>
            <a:r>
              <a:rPr lang="ko-KR" altLang="en-US" dirty="0"/>
              <a:t>는 </a:t>
            </a:r>
            <a:endParaRPr lang="en-US" altLang="ko-KR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/>
              <a:t>Objective Structured Clinical Examination</a:t>
            </a:r>
            <a:r>
              <a:rPr lang="en-US" dirty="0"/>
              <a:t>,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</a:t>
            </a:r>
            <a:r>
              <a:rPr lang="ko-KR" altLang="en-US" dirty="0"/>
              <a:t>즉 의사가 실제로 수행하는 임상 실기시험 방식으로</a:t>
            </a:r>
            <a:r>
              <a:rPr lang="en-US" altLang="ko-KR" dirty="0"/>
              <a:t>,</a:t>
            </a:r>
            <a:endParaRPr lang="en-US" altLang="ko-KR" dirty="0">
              <a:latin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dirty="0">
                <a:latin typeface="Arial"/>
                <a:ea typeface="Arial"/>
                <a:cs typeface="Arial"/>
                <a:sym typeface="Arial"/>
              </a:rPr>
              <a:t>실제 의대생이나 의사가 환자와 대화하며 병력을</a:t>
            </a:r>
            <a:r>
              <a:rPr lang="ko-KR" altLang="en-US" dirty="0">
                <a:latin typeface="Arial"/>
                <a:ea typeface="Arial"/>
                <a:cs typeface="Arial"/>
                <a:sym typeface="Arial"/>
              </a:rPr>
              <a:t> 알아내고</a:t>
            </a:r>
            <a:r>
              <a:rPr lang="ko-KR" dirty="0">
                <a:latin typeface="Arial"/>
                <a:ea typeface="Arial"/>
                <a:cs typeface="Arial"/>
                <a:sym typeface="Arial"/>
              </a:rPr>
              <a:t>, 필요한 검사를 선택</a:t>
            </a:r>
            <a:r>
              <a:rPr lang="ko-KR" altLang="en-US" dirty="0">
                <a:latin typeface="Arial"/>
                <a:ea typeface="Arial"/>
                <a:cs typeface="Arial"/>
                <a:sym typeface="Arial"/>
              </a:rPr>
              <a:t>하며</a:t>
            </a:r>
            <a:r>
              <a:rPr lang="ko-KR" dirty="0">
                <a:latin typeface="Arial"/>
                <a:ea typeface="Arial"/>
                <a:cs typeface="Arial"/>
                <a:sym typeface="Arial"/>
              </a:rPr>
              <a:t>, 그 결과를 종합해 진단을 내리는 방식</a:t>
            </a:r>
            <a:r>
              <a:rPr lang="ko-KR" altLang="en-US" dirty="0">
                <a:latin typeface="Arial"/>
                <a:ea typeface="Arial"/>
                <a:cs typeface="Arial"/>
                <a:sym typeface="Arial"/>
              </a:rPr>
              <a:t>입니다</a:t>
            </a:r>
            <a:r>
              <a:rPr lang="ko-KR" dirty="0"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altLang="ko-KR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dirty="0">
                <a:latin typeface="Arial"/>
                <a:ea typeface="Arial"/>
                <a:cs typeface="Arial"/>
                <a:sym typeface="Arial"/>
              </a:rPr>
              <a:t>이를 활용해</a:t>
            </a:r>
            <a:r>
              <a:rPr lang="ko-KR" dirty="0">
                <a:latin typeface="Arial"/>
                <a:ea typeface="Arial"/>
                <a:cs typeface="Arial"/>
                <a:sym typeface="Arial"/>
              </a:rPr>
              <a:t> 단순히 정답을 맞히는 시험이 아니라, 진단 과정 전체를 평가하는 시험</a:t>
            </a:r>
            <a:r>
              <a:rPr lang="ko-KR" altLang="en-US" dirty="0">
                <a:latin typeface="Arial"/>
                <a:ea typeface="Arial"/>
                <a:cs typeface="Arial"/>
                <a:sym typeface="Arial"/>
              </a:rPr>
              <a:t>을 재현하였습니다</a:t>
            </a:r>
            <a:r>
              <a:rPr lang="ko-KR" dirty="0">
                <a:latin typeface="Arial"/>
                <a:ea typeface="Arial"/>
                <a:cs typeface="Arial"/>
                <a:sym typeface="Arial"/>
              </a:rPr>
              <a:t>.</a:t>
            </a:r>
            <a:endParaRPr lang="en-US" altLang="ko-KR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altLang="en-US" dirty="0"/>
              <a:t>핵심 특징은 </a:t>
            </a:r>
            <a:r>
              <a:rPr lang="en-US" altLang="ko-KR" dirty="0"/>
              <a:t>4</a:t>
            </a:r>
            <a:r>
              <a:rPr lang="ko-KR" altLang="en-US" dirty="0"/>
              <a:t>가지로</a:t>
            </a:r>
            <a:r>
              <a:rPr lang="en-US" altLang="ko-KR" dirty="0"/>
              <a:t>: </a:t>
            </a:r>
            <a:r>
              <a:rPr lang="ko-KR" altLang="en-US" b="1" dirty="0"/>
              <a:t>대화로 병력 알아내고</a:t>
            </a:r>
            <a:r>
              <a:rPr lang="en-US" altLang="ko-KR" dirty="0"/>
              <a:t>, </a:t>
            </a:r>
            <a:r>
              <a:rPr lang="ko-KR" altLang="en-US" b="1" dirty="0"/>
              <a:t>검사 선택</a:t>
            </a:r>
            <a:r>
              <a:rPr lang="en-US" altLang="ko-KR" dirty="0"/>
              <a:t>, </a:t>
            </a:r>
            <a:r>
              <a:rPr lang="ko-KR" altLang="en-US" b="1" dirty="0"/>
              <a:t>순차적 의사결정</a:t>
            </a:r>
            <a:r>
              <a:rPr lang="en-US" altLang="ko-KR" dirty="0"/>
              <a:t>, </a:t>
            </a:r>
            <a:r>
              <a:rPr lang="ko-KR" altLang="en-US" dirty="0"/>
              <a:t>그리고 마지막에 </a:t>
            </a:r>
            <a:r>
              <a:rPr lang="ko-KR" altLang="en-US" b="1" dirty="0"/>
              <a:t>최종 진단</a:t>
            </a:r>
            <a:r>
              <a:rPr lang="en-US" altLang="ko-KR" b="1" dirty="0"/>
              <a:t>/</a:t>
            </a:r>
            <a:r>
              <a:rPr lang="ko-KR" altLang="en-US" b="1" dirty="0"/>
              <a:t>판단 능력</a:t>
            </a:r>
            <a:r>
              <a:rPr lang="ko-KR" altLang="en-US" dirty="0"/>
              <a:t>을 평가한다는 점입니다</a:t>
            </a:r>
            <a:r>
              <a:rPr lang="en-US" altLang="ko-KR" dirty="0"/>
              <a:t>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dirty="0" err="1">
                <a:latin typeface="Arial"/>
                <a:ea typeface="Arial"/>
                <a:cs typeface="Arial"/>
                <a:sym typeface="Arial"/>
              </a:rPr>
              <a:t>AgentClinic은</a:t>
            </a:r>
            <a:r>
              <a:rPr lang="ko-KR" dirty="0">
                <a:latin typeface="Arial"/>
                <a:ea typeface="Arial"/>
                <a:cs typeface="Arial"/>
                <a:sym typeface="Arial"/>
              </a:rPr>
              <a:t> 이러한 OSCE 방식을 LLM 평가에 적용하여, 모델이 실제 의사처럼 환자와 상호작용하고 진단 결정을 내릴 수 있는지를 평가</a:t>
            </a:r>
            <a:r>
              <a:rPr lang="ko-KR" altLang="en-US" dirty="0">
                <a:latin typeface="Arial"/>
                <a:ea typeface="Arial"/>
                <a:cs typeface="Arial"/>
                <a:sym typeface="Arial"/>
              </a:rPr>
              <a:t>하는 연구로 진행되었습니다</a:t>
            </a:r>
            <a:r>
              <a:rPr lang="en-US" altLang="ko-KR" dirty="0">
                <a:latin typeface="Arial"/>
                <a:ea typeface="Arial"/>
                <a:cs typeface="Arial"/>
                <a:sym typeface="Arial"/>
              </a:rPr>
              <a:t>.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bc896615d4_0_39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altLang="en-US" dirty="0"/>
              <a:t>오른쪽의 그림은 </a:t>
            </a:r>
            <a:r>
              <a:rPr lang="ko-KR" dirty="0" err="1"/>
              <a:t>AgentClinic</a:t>
            </a:r>
            <a:r>
              <a:rPr lang="ko-KR" altLang="en-US" dirty="0" err="1"/>
              <a:t>이</a:t>
            </a:r>
            <a:r>
              <a:rPr lang="ko-KR" altLang="en-US" dirty="0"/>
              <a:t> 각각 에이전트를</a:t>
            </a:r>
            <a:r>
              <a:rPr lang="ko-KR" dirty="0"/>
              <a:t> OSCE</a:t>
            </a:r>
            <a:r>
              <a:rPr lang="ko-KR" altLang="en-US" dirty="0"/>
              <a:t> </a:t>
            </a:r>
            <a:r>
              <a:rPr lang="ko-KR" dirty="0"/>
              <a:t>형</a:t>
            </a:r>
            <a:r>
              <a:rPr lang="ko-KR" altLang="en-US" dirty="0"/>
              <a:t>식으로</a:t>
            </a:r>
            <a:r>
              <a:rPr lang="ko-KR" dirty="0"/>
              <a:t> 모방한 임상 </a:t>
            </a:r>
            <a:r>
              <a:rPr lang="ko-KR" altLang="en-US" dirty="0"/>
              <a:t>시뮬레이션형태를 어떻게 구조적으로 설계했는지 나타내는 그림입니다</a:t>
            </a:r>
            <a:r>
              <a:rPr lang="en-US" altLang="ko-KR" dirty="0"/>
              <a:t>.</a:t>
            </a:r>
            <a:br>
              <a:rPr lang="ko-KR" dirty="0"/>
            </a:br>
            <a:r>
              <a:rPr lang="ko-KR" altLang="en-US" dirty="0"/>
              <a:t>위그림과 같이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dirty="0" err="1"/>
              <a:t>Doctor</a:t>
            </a:r>
            <a:r>
              <a:rPr lang="ko-KR" dirty="0"/>
              <a:t> </a:t>
            </a:r>
            <a:r>
              <a:rPr lang="ko-KR" dirty="0" err="1"/>
              <a:t>Agent는</a:t>
            </a:r>
            <a:r>
              <a:rPr lang="ko-KR" dirty="0"/>
              <a:t> </a:t>
            </a:r>
            <a:r>
              <a:rPr lang="ko-KR" dirty="0" err="1"/>
              <a:t>Patient</a:t>
            </a:r>
            <a:r>
              <a:rPr lang="ko-KR" dirty="0"/>
              <a:t> </a:t>
            </a:r>
            <a:r>
              <a:rPr lang="ko-KR" dirty="0" err="1"/>
              <a:t>Agent와</a:t>
            </a:r>
            <a:r>
              <a:rPr lang="ko-KR" dirty="0"/>
              <a:t> 대화하며 정보를 수집하고, </a:t>
            </a:r>
            <a:r>
              <a:rPr lang="ko-KR" dirty="0" err="1"/>
              <a:t>Measurement</a:t>
            </a:r>
            <a:r>
              <a:rPr lang="ko-KR" dirty="0"/>
              <a:t> </a:t>
            </a:r>
            <a:r>
              <a:rPr lang="ko-KR" dirty="0" err="1"/>
              <a:t>Agent에게</a:t>
            </a:r>
            <a:r>
              <a:rPr lang="ko-KR" dirty="0"/>
              <a:t> 검사를 요청하여 진단을 수행</a:t>
            </a:r>
            <a:r>
              <a:rPr lang="ko-KR" altLang="en-US" dirty="0"/>
              <a:t>합니다</a:t>
            </a:r>
            <a:r>
              <a:rPr lang="ko-KR" dirty="0"/>
              <a:t>.</a:t>
            </a:r>
            <a:br>
              <a:rPr lang="ko-KR" dirty="0"/>
            </a:b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dirty="0" err="1"/>
              <a:t>Moderator</a:t>
            </a:r>
            <a:r>
              <a:rPr lang="ko-KR" dirty="0"/>
              <a:t> </a:t>
            </a:r>
            <a:r>
              <a:rPr lang="ko-KR" dirty="0" err="1"/>
              <a:t>Agent는</a:t>
            </a:r>
            <a:r>
              <a:rPr lang="ko-KR" dirty="0"/>
              <a:t> </a:t>
            </a:r>
            <a:r>
              <a:rPr lang="ko-KR" dirty="0" err="1"/>
              <a:t>Doctor</a:t>
            </a:r>
            <a:r>
              <a:rPr lang="ko-KR" dirty="0"/>
              <a:t> </a:t>
            </a:r>
            <a:r>
              <a:rPr lang="ko-KR" dirty="0" err="1"/>
              <a:t>Agent의</a:t>
            </a:r>
            <a:r>
              <a:rPr lang="ko-KR" dirty="0"/>
              <a:t> 최종 진단을 </a:t>
            </a:r>
            <a:r>
              <a:rPr lang="ko-KR" dirty="0" err="1"/>
              <a:t>Ground</a:t>
            </a:r>
            <a:r>
              <a:rPr lang="ko-KR" dirty="0"/>
              <a:t> </a:t>
            </a:r>
            <a:r>
              <a:rPr lang="ko-KR" dirty="0" err="1"/>
              <a:t>Truth와</a:t>
            </a:r>
            <a:r>
              <a:rPr lang="ko-KR" dirty="0"/>
              <a:t> 비교하여 평가</a:t>
            </a:r>
            <a:r>
              <a:rPr lang="ko-KR" altLang="en-US" dirty="0"/>
              <a:t>합니다</a:t>
            </a:r>
            <a:r>
              <a:rPr lang="ko-KR" dirty="0"/>
              <a:t>.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ko-KR" dirty="0"/>
            </a:br>
            <a:r>
              <a:rPr lang="ko-KR" altLang="en-US" dirty="0"/>
              <a:t>위 과정을 진행하면서</a:t>
            </a:r>
            <a:r>
              <a:rPr lang="en-US" altLang="ko-KR" dirty="0"/>
              <a:t>, </a:t>
            </a:r>
            <a:r>
              <a:rPr lang="ko-KR" altLang="en-US" dirty="0"/>
              <a:t>각각의 에이전트에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dirty="0" err="1"/>
              <a:t>Bias</a:t>
            </a:r>
            <a:r>
              <a:rPr lang="ko-KR" dirty="0"/>
              <a:t>, Tool </a:t>
            </a:r>
            <a:r>
              <a:rPr lang="ko-KR" dirty="0" err="1"/>
              <a:t>usage</a:t>
            </a:r>
            <a:r>
              <a:rPr lang="ko-KR" dirty="0"/>
              <a:t>, </a:t>
            </a:r>
            <a:r>
              <a:rPr lang="ko-KR" dirty="0" err="1"/>
              <a:t>Multimodal</a:t>
            </a:r>
            <a:r>
              <a:rPr lang="ko-KR" dirty="0"/>
              <a:t> 요소가 전체 진단 과정에 통합</a:t>
            </a:r>
            <a:r>
              <a:rPr lang="ko-KR" altLang="en-US" dirty="0"/>
              <a:t>되어 학습하는 방식으로 연구가 진행되었습니다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166" name="Google Shape;16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c896615d4_0_4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g3bc896615d4_0_4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100" dirty="0"/>
              <a:t>Agent Clinic </a:t>
            </a:r>
            <a:r>
              <a:rPr lang="en-US" sz="1100" dirty="0" err="1"/>
              <a:t>에서</a:t>
            </a:r>
            <a:r>
              <a:rPr lang="en-US" sz="1100" dirty="0"/>
              <a:t> Tool usage </a:t>
            </a:r>
            <a:r>
              <a:rPr lang="en-US" sz="1100" dirty="0" err="1"/>
              <a:t>부분입니다</a:t>
            </a:r>
            <a:r>
              <a:rPr lang="en-US" altLang="ko-KR" sz="1100" dirty="0"/>
              <a:t>. </a:t>
            </a:r>
            <a:r>
              <a:rPr lang="ko-KR" altLang="en-US" sz="1100" dirty="0"/>
              <a:t>연구에서는 </a:t>
            </a:r>
            <a:r>
              <a:rPr lang="en-US" sz="1100" dirty="0"/>
              <a:t>Agent Tool</a:t>
            </a:r>
            <a:r>
              <a:rPr lang="ko-KR" altLang="en-US" sz="1100" dirty="0"/>
              <a:t>을 사용하여 </a:t>
            </a:r>
            <a:r>
              <a:rPr lang="ko-KR" altLang="en-US" sz="1100" b="1" dirty="0"/>
              <a:t>임상 추론 전략이 성능에 어떤 영향을 미치는지를 </a:t>
            </a:r>
            <a:r>
              <a:rPr lang="ko-KR" altLang="en-US" sz="1100" b="1" dirty="0" err="1"/>
              <a:t>알기위해</a:t>
            </a:r>
            <a:r>
              <a:rPr lang="ko-KR" altLang="en-US" sz="1100" b="1" dirty="0"/>
              <a:t> 활용되었습니다</a:t>
            </a:r>
            <a:r>
              <a:rPr lang="en-US" altLang="ko-KR" sz="1100" b="1" dirty="0"/>
              <a:t>..</a:t>
            </a:r>
            <a:endParaRPr lang="en-US" altLang="ko-KR" sz="1100" dirty="0"/>
          </a:p>
          <a:p>
            <a:r>
              <a:rPr lang="ko-KR" altLang="en-US" sz="1100" dirty="0"/>
              <a:t>위 연구에서 연구자들은 동일한 언어 모델에</a:t>
            </a:r>
            <a:br>
              <a:rPr lang="ko-KR" altLang="en-US" sz="1100" dirty="0"/>
            </a:br>
            <a:r>
              <a:rPr lang="ko-KR" altLang="en-US" sz="1100" dirty="0"/>
              <a:t>서로 다른 추론 보조 도구를 적용하고</a:t>
            </a:r>
            <a:r>
              <a:rPr lang="en-US" altLang="ko-KR" sz="1100" dirty="0"/>
              <a:t>,</a:t>
            </a:r>
            <a:br>
              <a:rPr lang="en-US" altLang="ko-KR" sz="1100" dirty="0"/>
            </a:br>
            <a:r>
              <a:rPr lang="ko-KR" altLang="en-US" sz="1100" dirty="0"/>
              <a:t>그에 따른 진단 정확도의 변화를 비교하였습니다</a:t>
            </a:r>
            <a:r>
              <a:rPr lang="en-US" altLang="ko-KR" sz="1100" dirty="0"/>
              <a:t>.</a:t>
            </a:r>
            <a:br>
              <a:rPr lang="en-US" altLang="ko-KR" sz="1100" dirty="0"/>
            </a:br>
            <a:r>
              <a:rPr lang="ko-KR" altLang="en-US" sz="1100" dirty="0"/>
              <a:t>이를 통해 </a:t>
            </a:r>
            <a:r>
              <a:rPr lang="en-US" altLang="ko-KR" sz="1100" dirty="0"/>
              <a:t>, “</a:t>
            </a:r>
            <a:r>
              <a:rPr lang="ko-KR" altLang="en-US" sz="1100" dirty="0"/>
              <a:t>어떤 사고 방식이 임상 추론에 더 </a:t>
            </a:r>
            <a:r>
              <a:rPr lang="ko-KR" altLang="en-US" sz="1100" dirty="0" err="1"/>
              <a:t>효과적인가”를</a:t>
            </a:r>
            <a:r>
              <a:rPr lang="ko-KR" altLang="en-US" sz="1100" dirty="0"/>
              <a:t> 실험하기위해 위와 같이 활용하였습니다</a:t>
            </a:r>
            <a:r>
              <a:rPr lang="en-US" altLang="ko-KR" sz="1100" dirty="0"/>
              <a:t>.</a:t>
            </a:r>
          </a:p>
          <a:p>
            <a:r>
              <a:rPr lang="en-US" sz="1100" dirty="0" err="1"/>
              <a:t>오른쪽</a:t>
            </a:r>
            <a:r>
              <a:rPr lang="en-US" sz="1100" dirty="0"/>
              <a:t> </a:t>
            </a:r>
            <a:r>
              <a:rPr lang="en-US" sz="1100" dirty="0" err="1"/>
              <a:t>표를</a:t>
            </a:r>
            <a:r>
              <a:rPr lang="en-US" sz="1100" dirty="0"/>
              <a:t> </a:t>
            </a:r>
            <a:r>
              <a:rPr lang="en-US" sz="1100" dirty="0" err="1"/>
              <a:t>보시면</a:t>
            </a:r>
            <a:endParaRPr lang="en-US" sz="1100" dirty="0"/>
          </a:p>
          <a:p>
            <a:r>
              <a:rPr lang="en-US" sz="1100" dirty="0"/>
              <a:t>Chain-of-Thought </a:t>
            </a:r>
            <a:r>
              <a:rPr lang="ko-KR" altLang="en-US" sz="1100" dirty="0"/>
              <a:t>계열 도구는</a:t>
            </a:r>
            <a:br>
              <a:rPr lang="ko-KR" altLang="en-US" sz="1100" dirty="0"/>
            </a:br>
            <a:r>
              <a:rPr lang="ko-KR" altLang="en-US" sz="1100" dirty="0"/>
              <a:t>단계적 추론이 진단 성능을 얼마나 개선하는지를 검증하기 위한 장치로써</a:t>
            </a:r>
            <a:r>
              <a:rPr lang="en-US" altLang="ko-KR" sz="1100" dirty="0"/>
              <a:t>,</a:t>
            </a:r>
            <a:br>
              <a:rPr lang="en-US" altLang="ko-KR" sz="1100" dirty="0"/>
            </a:br>
            <a:r>
              <a:rPr lang="ko-KR" altLang="en-US" sz="1100" dirty="0"/>
              <a:t>특히 </a:t>
            </a:r>
            <a:r>
              <a:rPr lang="en-US" sz="1100" dirty="0"/>
              <a:t>Reflection </a:t>
            </a:r>
            <a:r>
              <a:rPr lang="en-US" sz="1100" dirty="0" err="1"/>
              <a:t>CoT</a:t>
            </a:r>
            <a:r>
              <a:rPr lang="ko-KR" altLang="en-US" sz="1100" dirty="0"/>
              <a:t>는</a:t>
            </a:r>
            <a:br>
              <a:rPr lang="ko-KR" altLang="en-US" sz="1100" dirty="0"/>
            </a:br>
            <a:r>
              <a:rPr lang="ko-KR" altLang="en-US" sz="1100" dirty="0"/>
              <a:t>초기 진단 가설을 재검토하는 과정이</a:t>
            </a:r>
            <a:br>
              <a:rPr lang="ko-KR" altLang="en-US" sz="1100" dirty="0"/>
            </a:br>
            <a:r>
              <a:rPr lang="ko-KR" altLang="en-US" sz="1100" dirty="0"/>
              <a:t>임상 정확도에 도움이 되는지를 보기 위해 도입되었습니다</a:t>
            </a:r>
            <a:r>
              <a:rPr lang="en-US" altLang="ko-KR" sz="1100" dirty="0"/>
              <a:t>.</a:t>
            </a:r>
          </a:p>
          <a:p>
            <a:r>
              <a:rPr lang="en-US" sz="1100" dirty="0"/>
              <a:t>Notebook </a:t>
            </a:r>
            <a:r>
              <a:rPr lang="ko-KR" altLang="en-US" sz="1100" dirty="0"/>
              <a:t>도구는</a:t>
            </a:r>
            <a:br>
              <a:rPr lang="ko-KR" altLang="en-US" sz="1100" dirty="0"/>
            </a:br>
            <a:r>
              <a:rPr lang="ko-KR" altLang="en-US" sz="1100" dirty="0"/>
              <a:t>경험 기반 기억이 누적될 때</a:t>
            </a:r>
            <a:br>
              <a:rPr lang="ko-KR" altLang="en-US" sz="1100" dirty="0"/>
            </a:br>
            <a:r>
              <a:rPr lang="ko-KR" altLang="en-US" sz="1100" dirty="0"/>
              <a:t>진단 성능이 향상되는지를 평가하기 위한 설정이며</a:t>
            </a:r>
            <a:r>
              <a:rPr lang="en-US" altLang="ko-KR" sz="1100" dirty="0"/>
              <a:t>.</a:t>
            </a:r>
            <a:br>
              <a:rPr lang="en-US" altLang="ko-KR" sz="1100" dirty="0"/>
            </a:br>
            <a:r>
              <a:rPr lang="ko-KR" altLang="en-US" sz="1100" dirty="0"/>
              <a:t>이는 실제 의사의 임상 경험 축적 효과를 모사한 실험 조건입니다</a:t>
            </a:r>
            <a:r>
              <a:rPr lang="en-US" altLang="ko-KR" sz="1100" dirty="0"/>
              <a:t>.</a:t>
            </a:r>
          </a:p>
          <a:p>
            <a:r>
              <a:rPr lang="en-US" sz="1100" dirty="0"/>
              <a:t>Adaptive RAG</a:t>
            </a:r>
            <a:r>
              <a:rPr lang="ko-KR" altLang="en-US" sz="1100" dirty="0"/>
              <a:t>는</a:t>
            </a:r>
            <a:br>
              <a:rPr lang="ko-KR" altLang="en-US" sz="1100" dirty="0"/>
            </a:br>
            <a:r>
              <a:rPr lang="ko-KR" altLang="en-US" sz="1100" dirty="0"/>
              <a:t>외부 의학 지식 접근이</a:t>
            </a:r>
            <a:br>
              <a:rPr lang="ko-KR" altLang="en-US" sz="1100" dirty="0"/>
            </a:br>
            <a:r>
              <a:rPr lang="ko-KR" altLang="en-US" sz="1100" dirty="0"/>
              <a:t>임상 추론에 어떤 기여를 하는지를 분석하기 위해 활용하였습니다</a:t>
            </a:r>
            <a:r>
              <a:rPr lang="en-US" altLang="ko-KR" sz="1100" dirty="0"/>
              <a:t>.</a:t>
            </a:r>
            <a:br>
              <a:rPr lang="en-US" altLang="ko-KR" sz="1100" dirty="0"/>
            </a:br>
            <a:r>
              <a:rPr lang="ko-KR" altLang="en-US" sz="1100" dirty="0"/>
              <a:t>기존 </a:t>
            </a:r>
            <a:r>
              <a:rPr lang="en-US" sz="1100" dirty="0"/>
              <a:t>RAG</a:t>
            </a:r>
            <a:r>
              <a:rPr lang="ko-KR" altLang="en-US" sz="1100" dirty="0"/>
              <a:t>와 달리</a:t>
            </a:r>
            <a:r>
              <a:rPr lang="en-US" altLang="ko-KR" sz="1100" dirty="0"/>
              <a:t>,</a:t>
            </a:r>
            <a:br>
              <a:rPr lang="en-US" altLang="ko-KR" sz="1100" dirty="0"/>
            </a:br>
            <a:r>
              <a:rPr lang="ko-KR" altLang="en-US" sz="1100" dirty="0"/>
              <a:t>검색 시점을 모델이 스스로 결정하도록 하여</a:t>
            </a:r>
            <a:br>
              <a:rPr lang="ko-KR" altLang="en-US" sz="1100" dirty="0"/>
            </a:br>
            <a:r>
              <a:rPr lang="ko-KR" altLang="en-US" sz="1100" dirty="0"/>
              <a:t>의사결정 전략 자체를 평가합니다</a:t>
            </a:r>
            <a:r>
              <a:rPr lang="en-US" altLang="ko-KR" sz="1100" dirty="0"/>
              <a:t>.</a:t>
            </a:r>
          </a:p>
          <a:p>
            <a:r>
              <a:rPr lang="ko-KR" altLang="en-US" sz="1100" dirty="0"/>
              <a:t>결과적으로 이 </a:t>
            </a:r>
            <a:r>
              <a:rPr lang="en-US" sz="1100" dirty="0"/>
              <a:t>Tool</a:t>
            </a:r>
            <a:r>
              <a:rPr lang="ko-KR" altLang="en-US" sz="1100" dirty="0"/>
              <a:t>들은</a:t>
            </a:r>
            <a:r>
              <a:rPr lang="en-US" altLang="ko-KR" sz="1100" dirty="0"/>
              <a:t>,</a:t>
            </a:r>
            <a:br>
              <a:rPr lang="en-US" altLang="ko-KR" sz="1100" dirty="0"/>
            </a:br>
            <a:r>
              <a:rPr lang="ko-KR" altLang="en-US" sz="1100" b="1" dirty="0"/>
              <a:t>임상 추론 정책을 비교하기 위한 실험 변수</a:t>
            </a:r>
            <a:r>
              <a:rPr lang="ko-KR" altLang="en-US" sz="1100" dirty="0"/>
              <a:t>로 설계한 것입니다</a:t>
            </a:r>
            <a:r>
              <a:rPr lang="en-US" altLang="ko-KR" sz="1100" dirty="0"/>
              <a:t>.</a:t>
            </a:r>
          </a:p>
          <a:p>
            <a:endParaRPr lang="en-US" altLang="ko-KR" sz="1100" dirty="0"/>
          </a:p>
        </p:txBody>
      </p:sp>
      <p:sp>
        <p:nvSpPr>
          <p:cNvPr id="182" name="Google Shape;182;g3bc896615d4_0_4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c896615d4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g3bc896615d4_0_2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altLang="en-US" dirty="0"/>
              <a:t>앞서 말한 </a:t>
            </a:r>
            <a:r>
              <a:rPr lang="en-US" altLang="ko-KR" dirty="0"/>
              <a:t>Tool usage </a:t>
            </a:r>
            <a:r>
              <a:rPr lang="ko-KR" altLang="en-US" dirty="0"/>
              <a:t>관련 모델들 성능 평가결과 입니다</a:t>
            </a:r>
            <a:r>
              <a:rPr lang="en-US" altLang="ko-KR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dirty="0" err="1"/>
              <a:t>Claude</a:t>
            </a:r>
            <a:r>
              <a:rPr lang="ko-KR" dirty="0"/>
              <a:t> 3.5</a:t>
            </a:r>
            <a:r>
              <a:rPr lang="ko-KR" altLang="en-US" dirty="0"/>
              <a:t>경우 </a:t>
            </a:r>
            <a:r>
              <a:rPr lang="en-US" altLang="ko-KR" dirty="0"/>
              <a:t>, </a:t>
            </a:r>
            <a:r>
              <a:rPr lang="ko-KR" dirty="0" err="1"/>
              <a:t>Notebook</a:t>
            </a:r>
            <a:r>
              <a:rPr lang="ko-KR" altLang="en-US" dirty="0" err="1"/>
              <a:t>방식</a:t>
            </a:r>
            <a:r>
              <a:rPr lang="ko-KR" dirty="0" err="1"/>
              <a:t>에서</a:t>
            </a:r>
            <a:r>
              <a:rPr lang="ko-KR" dirty="0"/>
              <a:t> 최고 </a:t>
            </a:r>
            <a:r>
              <a:rPr lang="en-US" altLang="ko-KR" dirty="0"/>
              <a:t>56</a:t>
            </a:r>
            <a:r>
              <a:rPr lang="ko-KR" dirty="0"/>
              <a:t>.1%</a:t>
            </a:r>
            <a:r>
              <a:rPr lang="ko-KR" altLang="en-US" dirty="0"/>
              <a:t>로 높은 성능을 보였으며</a:t>
            </a:r>
            <a:r>
              <a:rPr lang="en-US" altLang="ko-KR" dirty="0"/>
              <a:t>,</a:t>
            </a:r>
            <a:br>
              <a:rPr lang="ko-KR" dirty="0"/>
            </a:b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dirty="0"/>
              <a:t>GPT-4</a:t>
            </a:r>
            <a:r>
              <a:rPr lang="ko-KR" altLang="en-US" dirty="0"/>
              <a:t> 경우 </a:t>
            </a:r>
            <a:r>
              <a:rPr lang="ko-KR" dirty="0" err="1"/>
              <a:t>Adaptive</a:t>
            </a:r>
            <a:r>
              <a:rPr lang="ko-KR" dirty="0"/>
              <a:t> RAG(</a:t>
            </a:r>
            <a:r>
              <a:rPr lang="ko-KR" dirty="0" err="1"/>
              <a:t>Web</a:t>
            </a:r>
            <a:r>
              <a:rPr lang="ko-KR" dirty="0"/>
              <a:t>)</a:t>
            </a:r>
            <a:r>
              <a:rPr lang="ko-KR" altLang="en-US" dirty="0"/>
              <a:t>방식</a:t>
            </a:r>
            <a:r>
              <a:rPr lang="ko-KR" dirty="0"/>
              <a:t>에서 가장</a:t>
            </a:r>
            <a:r>
              <a:rPr lang="ko-KR" altLang="en-US" dirty="0"/>
              <a:t> 큰 향상을 보였고</a:t>
            </a:r>
            <a:r>
              <a:rPr lang="ko-KR" dirty="0"/>
              <a:t>,</a:t>
            </a:r>
            <a:br>
              <a:rPr lang="ko-KR" dirty="0"/>
            </a:b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dirty="0"/>
              <a:t>GPT-3.5: 도구가 오히려 악화</a:t>
            </a:r>
            <a:r>
              <a:rPr lang="ko-KR" altLang="en-US" dirty="0"/>
              <a:t> 되었으며</a:t>
            </a:r>
            <a:r>
              <a:rPr lang="en-US" altLang="ko-KR" dirty="0"/>
              <a:t>,</a:t>
            </a:r>
            <a:br>
              <a:rPr lang="ko-KR" dirty="0"/>
            </a:b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dirty="0"/>
              <a:t>Llama70B</a:t>
            </a:r>
            <a:r>
              <a:rPr lang="ko-KR" altLang="en-US" dirty="0"/>
              <a:t>경우</a:t>
            </a:r>
            <a:r>
              <a:rPr lang="en-US" altLang="ko-KR" dirty="0"/>
              <a:t> </a:t>
            </a:r>
            <a:r>
              <a:rPr lang="ko-KR" dirty="0" err="1"/>
              <a:t>Notebook</a:t>
            </a:r>
            <a:r>
              <a:rPr lang="ko-KR" altLang="en-US" dirty="0" err="1"/>
              <a:t>과</a:t>
            </a:r>
            <a:r>
              <a:rPr lang="ko-KR" altLang="en-US" dirty="0"/>
              <a:t> </a:t>
            </a:r>
            <a:r>
              <a:rPr lang="ko-KR" dirty="0" err="1"/>
              <a:t>Reflectio</a:t>
            </a:r>
            <a:r>
              <a:rPr lang="en-US" altLang="ko-KR" dirty="0"/>
              <a:t>n </a:t>
            </a:r>
            <a:r>
              <a:rPr lang="ko-KR" altLang="en-US" dirty="0"/>
              <a:t>방식들이</a:t>
            </a:r>
            <a:r>
              <a:rPr lang="ko-KR" dirty="0"/>
              <a:t> </a:t>
            </a:r>
            <a:r>
              <a:rPr lang="ko-KR" altLang="en-US" dirty="0"/>
              <a:t>크게</a:t>
            </a:r>
            <a:r>
              <a:rPr lang="ko-KR" dirty="0"/>
              <a:t> </a:t>
            </a:r>
            <a:r>
              <a:rPr lang="ko-KR" altLang="en-US" dirty="0"/>
              <a:t>개선되었음을 확인하였습니다</a:t>
            </a:r>
            <a:r>
              <a:rPr lang="en-US" altLang="ko-KR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altLang="en-US" dirty="0"/>
              <a:t>이를 통해</a:t>
            </a:r>
            <a:r>
              <a:rPr lang="ko-KR" altLang="en-US" sz="1200" dirty="0">
                <a:latin typeface="Malgun Gothic"/>
                <a:ea typeface="Malgun Gothic"/>
                <a:sym typeface="Malgun Gothic"/>
              </a:rPr>
              <a:t> </a:t>
            </a: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도구는 만능이 아니라, </a:t>
            </a:r>
            <a:r>
              <a:rPr lang="ko-KR" sz="1100" b="1" dirty="0">
                <a:latin typeface="Arial"/>
                <a:ea typeface="Arial"/>
                <a:cs typeface="Arial"/>
                <a:sym typeface="Arial"/>
              </a:rPr>
              <a:t>모델의 기본 추론능력과 정렬(</a:t>
            </a:r>
            <a:r>
              <a:rPr lang="ko-KR" sz="1100" b="1" dirty="0" err="1">
                <a:latin typeface="Arial"/>
                <a:ea typeface="Arial"/>
                <a:cs typeface="Arial"/>
                <a:sym typeface="Arial"/>
              </a:rPr>
              <a:t>alignment</a:t>
            </a:r>
            <a:r>
              <a:rPr lang="ko-KR" sz="1100" b="1" dirty="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sz="1100" b="1" dirty="0" err="1">
                <a:latin typeface="Arial"/>
                <a:ea typeface="Arial"/>
                <a:cs typeface="Arial"/>
                <a:sym typeface="Arial"/>
              </a:rPr>
              <a:t>에</a:t>
            </a:r>
            <a:r>
              <a:rPr lang="ko-KR" sz="1100" b="1" dirty="0">
                <a:latin typeface="Arial"/>
                <a:ea typeface="Arial"/>
                <a:cs typeface="Arial"/>
                <a:sym typeface="Arial"/>
              </a:rPr>
              <a:t> 따라 </a:t>
            </a:r>
            <a:r>
              <a:rPr lang="ko-KR" altLang="en-US" sz="1100" b="1" dirty="0">
                <a:latin typeface="Arial"/>
                <a:ea typeface="Arial"/>
                <a:cs typeface="Arial"/>
                <a:sym typeface="Arial"/>
              </a:rPr>
              <a:t>정확도가 </a:t>
            </a:r>
            <a:r>
              <a:rPr lang="ko-KR" altLang="en-US" sz="1100" b="1" dirty="0" err="1">
                <a:latin typeface="Arial"/>
                <a:ea typeface="Arial"/>
                <a:cs typeface="Arial"/>
                <a:sym typeface="Arial"/>
              </a:rPr>
              <a:t>달라진다는것을</a:t>
            </a:r>
            <a:r>
              <a:rPr lang="ko-KR" altLang="en-US" sz="1100" b="1" dirty="0">
                <a:latin typeface="Arial"/>
                <a:ea typeface="Arial"/>
                <a:cs typeface="Arial"/>
                <a:sym typeface="Arial"/>
              </a:rPr>
              <a:t> 확인하였습니다</a:t>
            </a:r>
            <a:r>
              <a:rPr lang="en-US" altLang="ko-KR" sz="1100" b="1" dirty="0"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197" name="Google Shape;197;g3bc896615d4_0_2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bc896615d4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g3bc896615d4_0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100" dirty="0" err="1"/>
              <a:t>다음은</a:t>
            </a:r>
            <a:r>
              <a:rPr lang="en-US" sz="1100" dirty="0"/>
              <a:t> </a:t>
            </a:r>
            <a:r>
              <a:rPr lang="en-US" sz="1100" dirty="0" err="1"/>
              <a:t>Bias설정입니다</a:t>
            </a:r>
            <a:r>
              <a:rPr lang="en-US" altLang="ko-KR" sz="1100" dirty="0"/>
              <a:t>.</a:t>
            </a:r>
            <a:endParaRPr lang="en-US" sz="1100" dirty="0"/>
          </a:p>
          <a:p>
            <a:r>
              <a:rPr lang="en-US" sz="1100" dirty="0"/>
              <a:t>Agent Clinic </a:t>
            </a:r>
            <a:r>
              <a:rPr lang="ko-KR" altLang="en-US" sz="1100" dirty="0"/>
              <a:t>에서는 보다 현실적인 진단 환경을 제공하기위해 </a:t>
            </a:r>
            <a:r>
              <a:rPr lang="en-US" altLang="ko-KR" sz="1100" dirty="0"/>
              <a:t>cognitive bias </a:t>
            </a:r>
            <a:r>
              <a:rPr lang="ko-KR" altLang="en-US" sz="1100" dirty="0"/>
              <a:t>와 </a:t>
            </a:r>
            <a:r>
              <a:rPr lang="en-US" altLang="ko-KR" sz="1100" dirty="0"/>
              <a:t>implicit bias</a:t>
            </a:r>
            <a:r>
              <a:rPr lang="ko-KR" altLang="en-US" sz="1100" dirty="0"/>
              <a:t> </a:t>
            </a:r>
            <a:r>
              <a:rPr lang="ko-KR" altLang="en-US" sz="1100" dirty="0" err="1"/>
              <a:t>를</a:t>
            </a:r>
            <a:r>
              <a:rPr lang="ko-KR" altLang="en-US" sz="1100" dirty="0"/>
              <a:t> 설정하였습니다</a:t>
            </a:r>
            <a:r>
              <a:rPr lang="en-US" altLang="ko-KR" sz="1100" dirty="0"/>
              <a:t>.</a:t>
            </a:r>
            <a:r>
              <a:rPr lang="ko-KR" altLang="en-US" sz="1100" dirty="0"/>
              <a:t> </a:t>
            </a:r>
            <a:endParaRPr lang="en-US" altLang="ko-KR" sz="1100" dirty="0"/>
          </a:p>
          <a:p>
            <a:r>
              <a:rPr lang="ko-KR" altLang="en-US" sz="1100" dirty="0"/>
              <a:t>여기서 </a:t>
            </a:r>
            <a:endParaRPr lang="en-US" sz="1100" dirty="0"/>
          </a:p>
          <a:p>
            <a:r>
              <a:rPr lang="en-US" sz="1100" dirty="0"/>
              <a:t>Cognitive bias</a:t>
            </a:r>
            <a:r>
              <a:rPr lang="ko-KR" altLang="en-US" sz="1100" dirty="0"/>
              <a:t>이란 임상 추론 과정에서 발생하는 인지적 편향이며</a:t>
            </a:r>
            <a:r>
              <a:rPr lang="en-US" altLang="ko-KR" sz="1100" dirty="0"/>
              <a:t>,</a:t>
            </a:r>
            <a:br>
              <a:rPr lang="en-US" altLang="ko-KR" sz="1100" dirty="0"/>
            </a:br>
            <a:r>
              <a:rPr lang="en-US" sz="1100" dirty="0"/>
              <a:t>Doctor Agent</a:t>
            </a:r>
            <a:r>
              <a:rPr lang="ko-KR" altLang="en-US" sz="1100" dirty="0"/>
              <a:t>에는 고착편향과 최근성</a:t>
            </a:r>
            <a:r>
              <a:rPr lang="en-US" sz="1100" dirty="0"/>
              <a:t> </a:t>
            </a:r>
            <a:r>
              <a:rPr lang="ko-KR" altLang="en-US" sz="1100" dirty="0" err="1"/>
              <a:t>편향로</a:t>
            </a:r>
            <a:r>
              <a:rPr lang="ko-KR" altLang="en-US" sz="1100" dirty="0"/>
              <a:t> 인해 진단들 하도록 시켰으며</a:t>
            </a:r>
            <a:r>
              <a:rPr lang="en-US" altLang="ko-KR" sz="1100" dirty="0"/>
              <a:t>,</a:t>
            </a:r>
            <a:br>
              <a:rPr lang="en-US" altLang="ko-KR" sz="1100" dirty="0"/>
            </a:br>
            <a:r>
              <a:rPr lang="en-US" sz="1100" dirty="0"/>
              <a:t>Patient Agent</a:t>
            </a:r>
            <a:r>
              <a:rPr lang="ko-KR" altLang="en-US" sz="1100" dirty="0"/>
              <a:t>에는 자가진단</a:t>
            </a:r>
            <a:r>
              <a:rPr lang="en-US" sz="1100" dirty="0"/>
              <a:t> </a:t>
            </a:r>
            <a:r>
              <a:rPr lang="ko-KR" altLang="en-US" sz="1100" dirty="0" err="1"/>
              <a:t>편향로</a:t>
            </a:r>
            <a:r>
              <a:rPr lang="ko-KR" altLang="en-US" sz="1100" dirty="0"/>
              <a:t> 인해 정보 제공이 편향되도록 시켰습니다</a:t>
            </a:r>
            <a:r>
              <a:rPr lang="en-US" altLang="ko-KR" sz="1100" dirty="0"/>
              <a:t>.</a:t>
            </a:r>
          </a:p>
          <a:p>
            <a:r>
              <a:rPr lang="en-US" sz="1100" dirty="0"/>
              <a:t>Implicit bias</a:t>
            </a:r>
            <a:r>
              <a:rPr lang="ko-KR" altLang="en-US" sz="1100" dirty="0"/>
              <a:t>이란 성별</a:t>
            </a:r>
            <a:r>
              <a:rPr lang="en-US" altLang="ko-KR" sz="1100" dirty="0"/>
              <a:t>, </a:t>
            </a:r>
            <a:r>
              <a:rPr lang="ko-KR" altLang="en-US" sz="1100" dirty="0"/>
              <a:t>문화</a:t>
            </a:r>
            <a:r>
              <a:rPr lang="en-US" altLang="ko-KR" sz="1100" dirty="0"/>
              <a:t>, </a:t>
            </a:r>
            <a:r>
              <a:rPr lang="ko-KR" altLang="en-US" sz="1100" dirty="0"/>
              <a:t>교육 수준 같은 사회적 요인에서 발생하며</a:t>
            </a:r>
            <a:r>
              <a:rPr lang="en-US" altLang="ko-KR" sz="1100" dirty="0"/>
              <a:t>,</a:t>
            </a:r>
            <a:br>
              <a:rPr lang="en-US" altLang="ko-KR" sz="1100" dirty="0"/>
            </a:br>
            <a:r>
              <a:rPr lang="ko-KR" altLang="en-US" sz="1100" dirty="0"/>
              <a:t>이를 통해 </a:t>
            </a:r>
            <a:r>
              <a:rPr lang="en-US" sz="1100" dirty="0"/>
              <a:t>Doctor Agent</a:t>
            </a:r>
            <a:r>
              <a:rPr lang="ko-KR" altLang="en-US" sz="1100" dirty="0"/>
              <a:t>의 검사 선택과 </a:t>
            </a:r>
            <a:r>
              <a:rPr lang="en-US" sz="1100" dirty="0"/>
              <a:t>Patient Agent</a:t>
            </a:r>
            <a:r>
              <a:rPr lang="ko-KR" altLang="en-US" sz="1100" dirty="0"/>
              <a:t>의 신뢰도에 영향을 줍도록 시켰습니다</a:t>
            </a:r>
            <a:endParaRPr lang="en-US" altLang="ko-KR" sz="11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bc896615d4_0_8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bc896615d4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bc896615d4_0_1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100" dirty="0" err="1"/>
              <a:t>앞서</a:t>
            </a:r>
            <a:r>
              <a:rPr lang="en-US" sz="1100" dirty="0"/>
              <a:t> </a:t>
            </a:r>
            <a:r>
              <a:rPr lang="en-US" sz="1100" dirty="0" err="1"/>
              <a:t>말한</a:t>
            </a:r>
            <a:r>
              <a:rPr lang="en-US" sz="1100" dirty="0"/>
              <a:t> bias </a:t>
            </a:r>
            <a:r>
              <a:rPr lang="en-US" sz="1100" dirty="0" err="1"/>
              <a:t>설정을</a:t>
            </a:r>
            <a:r>
              <a:rPr lang="en-US" sz="1100" dirty="0"/>
              <a:t> </a:t>
            </a:r>
            <a:r>
              <a:rPr lang="en-US" sz="1100" dirty="0" err="1"/>
              <a:t>통해</a:t>
            </a:r>
            <a:endParaRPr lang="en-US" sz="1100" dirty="0"/>
          </a:p>
          <a:p>
            <a:r>
              <a:rPr lang="ko-KR" altLang="en-US" sz="1100" dirty="0"/>
              <a:t>모델의 분석에서는 진단 정확도뿐 아니라</a:t>
            </a:r>
            <a:r>
              <a:rPr lang="en-US" altLang="ko-KR" sz="1100" dirty="0"/>
              <a:t>,</a:t>
            </a:r>
            <a:br>
              <a:rPr lang="en-US" altLang="ko-KR" sz="1100" dirty="0"/>
            </a:br>
            <a:r>
              <a:rPr lang="ko-KR" altLang="en-US" sz="1100" dirty="0"/>
              <a:t>환자 중심 지표인 </a:t>
            </a:r>
            <a:r>
              <a:rPr lang="en-US" sz="1100" b="1" dirty="0"/>
              <a:t>patient confidence</a:t>
            </a:r>
            <a:r>
              <a:rPr lang="ko-KR" altLang="en-US" sz="1100" b="1" dirty="0"/>
              <a:t>와 </a:t>
            </a:r>
            <a:r>
              <a:rPr lang="en-US" sz="1100" b="1" dirty="0"/>
              <a:t>compliance</a:t>
            </a:r>
            <a:r>
              <a:rPr lang="ko-KR" altLang="en-US" sz="1100" b="1" dirty="0"/>
              <a:t>의 변화</a:t>
            </a:r>
            <a:r>
              <a:rPr lang="ko-KR" altLang="en-US" sz="1100" dirty="0"/>
              <a:t>도 함께 </a:t>
            </a:r>
            <a:r>
              <a:rPr lang="ko-KR" altLang="en-US" sz="1100" dirty="0" err="1"/>
              <a:t>살펴볼수</a:t>
            </a:r>
            <a:r>
              <a:rPr lang="ko-KR" altLang="en-US" sz="1100" dirty="0"/>
              <a:t> 있습니다</a:t>
            </a:r>
            <a:r>
              <a:rPr lang="en-US" altLang="ko-KR" sz="1100" dirty="0"/>
              <a:t>.</a:t>
            </a:r>
          </a:p>
          <a:p>
            <a:r>
              <a:rPr lang="ko-KR" altLang="en-US" sz="1100" dirty="0"/>
              <a:t>먼저 </a:t>
            </a:r>
            <a:r>
              <a:rPr lang="en-US" sz="1100" dirty="0"/>
              <a:t>cognitive bias</a:t>
            </a:r>
            <a:r>
              <a:rPr lang="ko-KR" altLang="en-US" sz="1100" dirty="0"/>
              <a:t>의 경우</a:t>
            </a:r>
            <a:r>
              <a:rPr lang="en-US" altLang="ko-KR" sz="1100" dirty="0"/>
              <a:t>,</a:t>
            </a:r>
            <a:br>
              <a:rPr lang="en-US" altLang="ko-KR" sz="1100" dirty="0"/>
            </a:br>
            <a:r>
              <a:rPr lang="ko-KR" altLang="en-US" sz="1100" dirty="0"/>
              <a:t>의사나 환자가 특정 가설이나 초기 정보에 집착하면서</a:t>
            </a:r>
            <a:br>
              <a:rPr lang="ko-KR" altLang="en-US" sz="1100" dirty="0"/>
            </a:br>
            <a:r>
              <a:rPr lang="ko-KR" altLang="en-US" sz="1100" dirty="0"/>
              <a:t>대화 흐름이 한쪽으로 고정되는 현상이 나타났습니다</a:t>
            </a:r>
            <a:r>
              <a:rPr lang="en-US" altLang="ko-KR" sz="1100" dirty="0"/>
              <a:t>.</a:t>
            </a:r>
            <a:br>
              <a:rPr lang="en-US" altLang="ko-KR" sz="1100" dirty="0"/>
            </a:br>
            <a:r>
              <a:rPr lang="ko-KR" altLang="en-US" sz="1100" dirty="0"/>
              <a:t>이로 인해 환자는 자신의 상태가 충분히 고려되지 않는다고 느끼고</a:t>
            </a:r>
            <a:r>
              <a:rPr lang="en-US" altLang="ko-KR" sz="1100" dirty="0"/>
              <a:t>,</a:t>
            </a:r>
            <a:br>
              <a:rPr lang="en-US" altLang="ko-KR" sz="1100" dirty="0"/>
            </a:br>
            <a:r>
              <a:rPr lang="en-US" sz="1100" dirty="0"/>
              <a:t>patient confidence</a:t>
            </a:r>
            <a:r>
              <a:rPr lang="ko-KR" altLang="en-US" sz="1100" dirty="0"/>
              <a:t>와 </a:t>
            </a:r>
            <a:r>
              <a:rPr lang="en-US" sz="1100" dirty="0"/>
              <a:t>compliance</a:t>
            </a:r>
            <a:r>
              <a:rPr lang="ko-KR" altLang="en-US" sz="1100" dirty="0"/>
              <a:t>가 함께 감소하는 경향을 보였습니다</a:t>
            </a:r>
            <a:r>
              <a:rPr lang="en-US" altLang="ko-KR" sz="1100" dirty="0"/>
              <a:t>.</a:t>
            </a:r>
          </a:p>
          <a:p>
            <a:r>
              <a:rPr lang="en-US" sz="1100" dirty="0"/>
              <a:t>Implicit bias</a:t>
            </a:r>
            <a:r>
              <a:rPr lang="ko-KR" altLang="en-US" sz="1100" dirty="0"/>
              <a:t>의 경우에는</a:t>
            </a:r>
            <a:br>
              <a:rPr lang="ko-KR" altLang="en-US" sz="1100" dirty="0"/>
            </a:br>
            <a:r>
              <a:rPr lang="ko-KR" altLang="en-US" sz="1100" dirty="0"/>
              <a:t>환자가 의사를 신뢰하지 못하는 상황이 만들어지면서</a:t>
            </a:r>
            <a:r>
              <a:rPr lang="en-US" altLang="ko-KR" sz="1100" dirty="0"/>
              <a:t>,</a:t>
            </a:r>
            <a:br>
              <a:rPr lang="en-US" altLang="ko-KR" sz="1100" dirty="0"/>
            </a:br>
            <a:r>
              <a:rPr lang="ko-KR" altLang="en-US" sz="1100" dirty="0"/>
              <a:t>질문에 대한 응답이 소극적이거나</a:t>
            </a:r>
            <a:br>
              <a:rPr lang="ko-KR" altLang="en-US" sz="1100" dirty="0"/>
            </a:br>
            <a:r>
              <a:rPr lang="ko-KR" altLang="en-US" sz="1100" dirty="0"/>
              <a:t>필요한 정보를 충분히 제공하지 않는 사례가 나타났습니다</a:t>
            </a:r>
            <a:r>
              <a:rPr lang="en-US" altLang="ko-KR" sz="1100" dirty="0"/>
              <a:t>.</a:t>
            </a:r>
            <a:br>
              <a:rPr lang="en-US" altLang="ko-KR" sz="1100" dirty="0"/>
            </a:br>
            <a:r>
              <a:rPr lang="ko-KR" altLang="en-US" sz="1100" dirty="0"/>
              <a:t>이는 진단 이전 단계에서 환자 순응도를 떨어뜨리고</a:t>
            </a:r>
            <a:r>
              <a:rPr lang="en-US" altLang="ko-KR" sz="1100" dirty="0"/>
              <a:t>,</a:t>
            </a:r>
            <a:br>
              <a:rPr lang="en-US" altLang="ko-KR" sz="1100" dirty="0"/>
            </a:br>
            <a:r>
              <a:rPr lang="ko-KR" altLang="en-US" sz="1100" dirty="0"/>
              <a:t>전체 상호작용 품질을 악화시킵니다</a:t>
            </a:r>
            <a:r>
              <a:rPr lang="en-US" altLang="ko-KR" sz="1100" dirty="0"/>
              <a:t>.</a:t>
            </a:r>
          </a:p>
          <a:p>
            <a:r>
              <a:rPr lang="ko-KR" altLang="en-US" sz="1100" dirty="0"/>
              <a:t>흥미로운 점은 이러한 영향이 모든 모델에서 동일하지 않았다는 것입니다</a:t>
            </a:r>
            <a:r>
              <a:rPr lang="en-US" altLang="ko-KR" sz="1100" dirty="0"/>
              <a:t>.</a:t>
            </a:r>
            <a:br>
              <a:rPr lang="en-US" altLang="ko-KR" sz="1100" dirty="0"/>
            </a:br>
            <a:r>
              <a:rPr lang="en-US" sz="1100" dirty="0"/>
              <a:t>GPT-4</a:t>
            </a:r>
            <a:r>
              <a:rPr lang="ko-KR" altLang="en-US" sz="1100" dirty="0"/>
              <a:t>는 </a:t>
            </a:r>
            <a:r>
              <a:rPr lang="en-US" sz="1100" dirty="0"/>
              <a:t>bias </a:t>
            </a:r>
            <a:r>
              <a:rPr lang="ko-KR" altLang="en-US" sz="1100" dirty="0"/>
              <a:t>상황에서도 비교적 안정적인 환자 반응을 유지한 반면</a:t>
            </a:r>
            <a:r>
              <a:rPr lang="en-US" altLang="ko-KR" sz="1100" dirty="0"/>
              <a:t>,</a:t>
            </a:r>
            <a:br>
              <a:rPr lang="en-US" altLang="ko-KR" sz="1100" dirty="0"/>
            </a:br>
            <a:r>
              <a:rPr lang="en-US" sz="1100" dirty="0"/>
              <a:t>Mixtral-7B</a:t>
            </a:r>
            <a:r>
              <a:rPr lang="ko-KR" altLang="en-US" sz="1100" dirty="0"/>
              <a:t>는 </a:t>
            </a:r>
            <a:r>
              <a:rPr lang="en-US" sz="1100" dirty="0"/>
              <a:t>patient confidence</a:t>
            </a:r>
            <a:r>
              <a:rPr lang="ko-KR" altLang="en-US" sz="1100" dirty="0"/>
              <a:t>와 </a:t>
            </a:r>
            <a:r>
              <a:rPr lang="en-US" sz="1100" dirty="0"/>
              <a:t>compliance</a:t>
            </a:r>
            <a:r>
              <a:rPr lang="ko-KR" altLang="en-US" sz="1100" dirty="0"/>
              <a:t>에서 더 큰 감소를 보였습니다</a:t>
            </a:r>
            <a:r>
              <a:rPr lang="en-US" altLang="ko-KR" sz="1100" dirty="0"/>
              <a:t>.</a:t>
            </a:r>
          </a:p>
          <a:p>
            <a:r>
              <a:rPr lang="ko-KR" altLang="en-US" sz="1100" dirty="0"/>
              <a:t>이 결과는 </a:t>
            </a:r>
            <a:r>
              <a:rPr lang="en-US" sz="1100" dirty="0"/>
              <a:t>bias</a:t>
            </a:r>
            <a:r>
              <a:rPr lang="ko-KR" altLang="en-US" sz="1100" dirty="0"/>
              <a:t>가 단순히 진단 오류를 만드는 문제가 아니라</a:t>
            </a:r>
            <a:r>
              <a:rPr lang="en-US" altLang="ko-KR" sz="1100" dirty="0"/>
              <a:t>,</a:t>
            </a:r>
            <a:br>
              <a:rPr lang="en-US" altLang="ko-KR" sz="1100" dirty="0"/>
            </a:br>
            <a:r>
              <a:rPr lang="ko-KR" altLang="en-US" sz="1100" b="1" dirty="0"/>
              <a:t>의사</a:t>
            </a:r>
            <a:r>
              <a:rPr lang="en-US" altLang="ko-KR" sz="1100" b="1" dirty="0"/>
              <a:t>–</a:t>
            </a:r>
            <a:r>
              <a:rPr lang="ko-KR" altLang="en-US" sz="1100" b="1" dirty="0"/>
              <a:t>환자 신뢰 관계 자체를 먼저 붕괴시킬 수 있다</a:t>
            </a:r>
            <a:r>
              <a:rPr lang="ko-KR" altLang="en-US" sz="1100" dirty="0"/>
              <a:t>는 점을 시사합니다</a:t>
            </a:r>
            <a:r>
              <a:rPr lang="en-US" altLang="ko-KR" sz="1100" dirty="0"/>
              <a:t>.</a:t>
            </a:r>
          </a:p>
        </p:txBody>
      </p:sp>
      <p:sp>
        <p:nvSpPr>
          <p:cNvPr id="227" name="Google Shape;227;g3bc896615d4_0_1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bc896615d4_0_5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g3bc896615d4_0_5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altLang="ko-KR" dirty="0" err="1"/>
              <a:t>AgentClinic</a:t>
            </a:r>
            <a:r>
              <a:rPr lang="en-US" altLang="ko-KR" dirty="0"/>
              <a:t> </a:t>
            </a:r>
            <a:r>
              <a:rPr lang="ko-KR" altLang="en-US" dirty="0"/>
              <a:t>벤치마크는 세 가지 주요 데이터 소스를 기반으로 구성됩니다</a:t>
            </a:r>
            <a:r>
              <a:rPr lang="en-US" altLang="ko-KR" dirty="0"/>
              <a:t>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ko-KR" altLang="en-US" dirty="0"/>
              <a:t>첫째</a:t>
            </a:r>
            <a:r>
              <a:rPr lang="en-US" altLang="ko-KR" dirty="0"/>
              <a:t>, </a:t>
            </a:r>
            <a:r>
              <a:rPr lang="en-US" altLang="ko-KR" dirty="0" err="1"/>
              <a:t>MedQA</a:t>
            </a:r>
            <a:r>
              <a:rPr lang="en-US" altLang="ko-KR" dirty="0"/>
              <a:t>, </a:t>
            </a:r>
            <a:r>
              <a:rPr lang="ko-KR" altLang="en-US" dirty="0"/>
              <a:t>즉 </a:t>
            </a:r>
            <a:r>
              <a:rPr lang="en-US" altLang="ko-KR" dirty="0"/>
              <a:t>USMLE </a:t>
            </a:r>
            <a:r>
              <a:rPr lang="ko-KR" altLang="en-US" dirty="0"/>
              <a:t>스타일 시험 문제 기반 임상 시나리오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둘째</a:t>
            </a:r>
            <a:r>
              <a:rPr lang="en-US" altLang="ko-KR" dirty="0"/>
              <a:t>, </a:t>
            </a:r>
            <a:r>
              <a:rPr lang="ko-KR" altLang="en-US" dirty="0"/>
              <a:t>실제 전자의무기록 데이터인 </a:t>
            </a:r>
            <a:r>
              <a:rPr lang="en-US" altLang="ko-KR" dirty="0"/>
              <a:t>MIMIC-IV,</a:t>
            </a:r>
            <a:br>
              <a:rPr lang="en-US" altLang="ko-KR" dirty="0"/>
            </a:br>
            <a:r>
              <a:rPr lang="ko-KR" altLang="en-US" dirty="0"/>
              <a:t>셋째</a:t>
            </a:r>
            <a:r>
              <a:rPr lang="en-US" altLang="ko-KR" dirty="0"/>
              <a:t>, </a:t>
            </a:r>
            <a:r>
              <a:rPr lang="ko-KR" altLang="en-US" dirty="0"/>
              <a:t>영상 기반 임상 사례를 포함한 </a:t>
            </a:r>
            <a:r>
              <a:rPr lang="en-US" altLang="ko-KR" dirty="0"/>
              <a:t>NEJM Case 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ko-KR" altLang="en-US" dirty="0"/>
              <a:t>이 세 가지 데이터를 바탕으로 다섯 개의 하위 데이터셋이 만들어졌습니다</a:t>
            </a:r>
            <a:r>
              <a:rPr lang="en-US" altLang="ko-KR" dirty="0"/>
              <a:t>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altLang="ko-KR" dirty="0" err="1"/>
              <a:t>AgentClinic</a:t>
            </a:r>
            <a:r>
              <a:rPr lang="en-US" altLang="ko-KR" dirty="0"/>
              <a:t>-NEJM</a:t>
            </a:r>
            <a:r>
              <a:rPr lang="ko-KR" altLang="en-US" dirty="0"/>
              <a:t>은 텍스트와 의료 영상을 함께 사용하는 </a:t>
            </a:r>
            <a:r>
              <a:rPr lang="ko-KR" altLang="en-US" dirty="0" err="1"/>
              <a:t>멀티모달</a:t>
            </a:r>
            <a:r>
              <a:rPr lang="ko-KR" altLang="en-US" dirty="0"/>
              <a:t> 진단 문제이고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 err="1"/>
              <a:t>AgentClinic-MedQA</a:t>
            </a:r>
            <a:r>
              <a:rPr lang="ko-KR" altLang="en-US" dirty="0"/>
              <a:t>와 </a:t>
            </a:r>
            <a:r>
              <a:rPr lang="en-US" altLang="ko-KR" dirty="0" err="1"/>
              <a:t>AgentClinic</a:t>
            </a:r>
            <a:r>
              <a:rPr lang="en-US" altLang="ko-KR" dirty="0"/>
              <a:t>-MIMIC-IV</a:t>
            </a:r>
            <a:r>
              <a:rPr lang="ko-KR" altLang="en-US" dirty="0"/>
              <a:t>는 각각 시험 문제와 실제 </a:t>
            </a:r>
            <a:r>
              <a:rPr lang="en-US" altLang="ko-KR" dirty="0"/>
              <a:t>EHR </a:t>
            </a:r>
            <a:r>
              <a:rPr lang="ko-KR" altLang="en-US" dirty="0"/>
              <a:t>기반의 텍스트 중심 사례입니다</a:t>
            </a:r>
            <a:r>
              <a:rPr lang="en-US" altLang="ko-KR" dirty="0"/>
              <a:t>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ko-KR" altLang="en-US" dirty="0"/>
              <a:t>또한 </a:t>
            </a:r>
            <a:r>
              <a:rPr lang="en-US" altLang="ko-KR" dirty="0" err="1"/>
              <a:t>AgentClinic</a:t>
            </a:r>
            <a:r>
              <a:rPr lang="en-US" altLang="ko-KR" dirty="0"/>
              <a:t>-Spec</a:t>
            </a:r>
            <a:r>
              <a:rPr lang="ko-KR" altLang="en-US" dirty="0"/>
              <a:t>은 소아과</a:t>
            </a:r>
            <a:r>
              <a:rPr lang="en-US" altLang="ko-KR" dirty="0"/>
              <a:t>, </a:t>
            </a:r>
            <a:r>
              <a:rPr lang="ko-KR" altLang="en-US" dirty="0"/>
              <a:t>정신과</a:t>
            </a:r>
            <a:r>
              <a:rPr lang="en-US" altLang="ko-KR" dirty="0"/>
              <a:t>, </a:t>
            </a:r>
            <a:r>
              <a:rPr lang="ko-KR" altLang="en-US" dirty="0"/>
              <a:t>내과 등 </a:t>
            </a:r>
            <a:r>
              <a:rPr lang="en-US" altLang="ko-KR" dirty="0"/>
              <a:t>9</a:t>
            </a:r>
            <a:r>
              <a:rPr lang="ko-KR" altLang="en-US" dirty="0"/>
              <a:t>개 전문과 진단 케이스로 구성되어 있고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 err="1"/>
              <a:t>AgentClinic</a:t>
            </a:r>
            <a:r>
              <a:rPr lang="en-US" altLang="ko-KR" dirty="0"/>
              <a:t>-Lang</a:t>
            </a:r>
            <a:r>
              <a:rPr lang="ko-KR" altLang="en-US" dirty="0"/>
              <a:t>은 </a:t>
            </a:r>
            <a:r>
              <a:rPr lang="en-US" altLang="ko-KR" dirty="0" err="1"/>
              <a:t>MedQA</a:t>
            </a:r>
            <a:r>
              <a:rPr lang="en-US" altLang="ko-KR" dirty="0"/>
              <a:t> </a:t>
            </a:r>
            <a:r>
              <a:rPr lang="ko-KR" altLang="en-US" dirty="0"/>
              <a:t>기반 사례를 </a:t>
            </a:r>
            <a:r>
              <a:rPr lang="en-US" altLang="ko-KR" dirty="0"/>
              <a:t>7</a:t>
            </a:r>
            <a:r>
              <a:rPr lang="ko-KR" altLang="en-US" dirty="0"/>
              <a:t>개 언어로 번역한 다국어 평가 데이터셋입니다</a:t>
            </a:r>
            <a:r>
              <a:rPr lang="en-US" altLang="ko-KR" dirty="0"/>
              <a:t>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ko-KR" altLang="en-US" dirty="0"/>
              <a:t>결과적으로 </a:t>
            </a:r>
            <a:r>
              <a:rPr lang="en-US" altLang="ko-KR" dirty="0" err="1"/>
              <a:t>AgentClinic</a:t>
            </a:r>
            <a:r>
              <a:rPr lang="ko-KR" altLang="en-US" dirty="0"/>
              <a:t>은</a:t>
            </a:r>
            <a:br>
              <a:rPr lang="ko-KR" altLang="en-US" dirty="0"/>
            </a:br>
            <a:r>
              <a:rPr lang="ko-KR" altLang="en-US" dirty="0" err="1"/>
              <a:t>멀티모달</a:t>
            </a:r>
            <a:r>
              <a:rPr lang="en-US" altLang="ko-KR" dirty="0"/>
              <a:t>, </a:t>
            </a:r>
            <a:r>
              <a:rPr lang="ko-KR" altLang="en-US" dirty="0"/>
              <a:t>다국어</a:t>
            </a:r>
            <a:r>
              <a:rPr lang="en-US" altLang="ko-KR" dirty="0"/>
              <a:t>, </a:t>
            </a:r>
            <a:r>
              <a:rPr lang="ko-KR" altLang="en-US" dirty="0"/>
              <a:t>전문과 진단을 모두 포괄하는 벤치마크 구조를 갖습니다</a:t>
            </a:r>
            <a:r>
              <a:rPr lang="en-US" altLang="ko-KR" dirty="0"/>
              <a:t>.</a:t>
            </a:r>
          </a:p>
        </p:txBody>
      </p:sp>
      <p:sp>
        <p:nvSpPr>
          <p:cNvPr id="242" name="Google Shape;242;g3bc896615d4_0_5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bc896615d4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g3bc896615d4_0_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altLang="en-US" dirty="0"/>
              <a:t>또한 </a:t>
            </a:r>
            <a:r>
              <a:rPr lang="en-US" altLang="ko-KR" dirty="0"/>
              <a:t>Agent Clinic</a:t>
            </a:r>
            <a:r>
              <a:rPr lang="ko-KR" altLang="en-US" dirty="0"/>
              <a:t>에서는 여러 상용 </a:t>
            </a:r>
            <a:r>
              <a:rPr lang="en-US" altLang="ko-KR" dirty="0"/>
              <a:t>LLM</a:t>
            </a:r>
            <a:r>
              <a:rPr lang="ko-KR" altLang="en-US" dirty="0"/>
              <a:t>과 오픈소스 모델</a:t>
            </a:r>
            <a:r>
              <a:rPr lang="en-US" altLang="ko-KR" dirty="0"/>
              <a:t>, </a:t>
            </a:r>
            <a:r>
              <a:rPr lang="ko-KR" altLang="en-US" dirty="0"/>
              <a:t>그리고 실제 의사 집단을 함께 비교합니다</a:t>
            </a:r>
            <a:r>
              <a:rPr lang="en-US" altLang="ko-KR" dirty="0"/>
              <a:t>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altLang="en-US" dirty="0"/>
              <a:t>평가 대상 모델은</a:t>
            </a:r>
            <a:br>
              <a:rPr lang="ko-KR" altLang="en-US" dirty="0"/>
            </a:br>
            <a:r>
              <a:rPr lang="en-US" altLang="ko-KR" dirty="0"/>
              <a:t>Claude 3.5, GPT-4, GPT-4o, Llama 3, </a:t>
            </a:r>
            <a:r>
              <a:rPr lang="en-US" altLang="ko-KR" dirty="0" err="1"/>
              <a:t>Mixtral</a:t>
            </a:r>
            <a:r>
              <a:rPr lang="en-US" altLang="ko-KR" dirty="0"/>
              <a:t>, </a:t>
            </a:r>
            <a:r>
              <a:rPr lang="ko-KR" altLang="en-US" dirty="0"/>
              <a:t>그리고 </a:t>
            </a:r>
            <a:r>
              <a:rPr lang="en-US" altLang="ko-KR" dirty="0"/>
              <a:t>Human physicians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altLang="en-US" dirty="0"/>
              <a:t>평가 방식의 핵심은 제한된 상호작용 환경입니다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모델은 환자에게 질문하거나 검사를 요청할 수 있지만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전체 상호작용 횟수는 최대 </a:t>
            </a:r>
            <a:r>
              <a:rPr lang="en-US" altLang="ko-KR" dirty="0"/>
              <a:t>20</a:t>
            </a:r>
            <a:r>
              <a:rPr lang="ko-KR" altLang="en-US" dirty="0"/>
              <a:t>번으로 제한됩니다</a:t>
            </a:r>
            <a:r>
              <a:rPr lang="en-US" altLang="ko-KR" dirty="0"/>
              <a:t>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altLang="en-US" dirty="0"/>
              <a:t>검사 요청도 </a:t>
            </a:r>
            <a:r>
              <a:rPr lang="en-US" altLang="ko-KR" dirty="0"/>
              <a:t>interaction</a:t>
            </a:r>
            <a:r>
              <a:rPr lang="ko-KR" altLang="en-US" dirty="0" err="1"/>
              <a:t>으로</a:t>
            </a:r>
            <a:r>
              <a:rPr lang="ko-KR" altLang="en-US" dirty="0"/>
              <a:t> 포함되기 때문에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어떤 질문을 먼저 하고 어떤 검사를 선택하느냐가</a:t>
            </a:r>
            <a:br>
              <a:rPr lang="ko-KR" altLang="en-US" dirty="0"/>
            </a:br>
            <a:r>
              <a:rPr lang="ko-KR" altLang="en-US" dirty="0"/>
              <a:t>진단 성능에 직접적인 영향을 미칩니다</a:t>
            </a:r>
            <a:r>
              <a:rPr lang="en-US" altLang="ko-KR" dirty="0"/>
              <a:t>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altLang="en-US" dirty="0"/>
              <a:t>평가지표는 단순 진단 정확도만 보지 않습니다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진단이 </a:t>
            </a:r>
            <a:r>
              <a:rPr lang="ko-KR" altLang="en-US" dirty="0" err="1"/>
              <a:t>맞았는지뿐</a:t>
            </a:r>
            <a:r>
              <a:rPr lang="ko-KR" altLang="en-US" dirty="0"/>
              <a:t> 아니라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환자의 신뢰도</a:t>
            </a:r>
            <a:r>
              <a:rPr lang="en-US" altLang="ko-KR" dirty="0"/>
              <a:t>(patient confidence),</a:t>
            </a:r>
            <a:br>
              <a:rPr lang="en-US" altLang="ko-KR" dirty="0"/>
            </a:br>
            <a:r>
              <a:rPr lang="ko-KR" altLang="en-US" dirty="0"/>
              <a:t>협조도</a:t>
            </a:r>
            <a:r>
              <a:rPr lang="en-US" altLang="ko-KR" dirty="0"/>
              <a:t>(compliance),</a:t>
            </a:r>
            <a:br>
              <a:rPr lang="en-US" altLang="ko-KR" dirty="0"/>
            </a:br>
            <a:r>
              <a:rPr lang="ko-KR" altLang="en-US" dirty="0"/>
              <a:t>그리고 **상담 품질</a:t>
            </a:r>
            <a:r>
              <a:rPr lang="en-US" altLang="ko-KR" dirty="0"/>
              <a:t>(consultation rating)**</a:t>
            </a:r>
            <a:r>
              <a:rPr lang="ko-KR" altLang="en-US" dirty="0"/>
              <a:t>까지 함께 평가합니다</a:t>
            </a:r>
            <a:r>
              <a:rPr lang="en-US" altLang="ko-KR" dirty="0"/>
              <a:t>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이 실험은</a:t>
            </a:r>
            <a:br>
              <a:rPr lang="ko-KR" altLang="en-US" dirty="0"/>
            </a:br>
            <a:r>
              <a:rPr lang="ko-KR" altLang="en-US" dirty="0"/>
              <a:t>정답뿐 아니라 진료 과정의 질을 함께 측정합니다</a:t>
            </a:r>
            <a:r>
              <a:rPr lang="en-US" altLang="ko-KR" dirty="0"/>
              <a:t>.</a:t>
            </a:r>
          </a:p>
        </p:txBody>
      </p:sp>
      <p:sp>
        <p:nvSpPr>
          <p:cNvPr id="257" name="Google Shape;257;g3bc896615d4_0_9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bc896615d4_0_5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g3bc896615d4_0_5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ko-KR" altLang="en-US" sz="1100" dirty="0">
                <a:latin typeface="Arial"/>
                <a:ea typeface="Arial"/>
                <a:cs typeface="Arial"/>
                <a:sym typeface="Arial"/>
              </a:rPr>
              <a:t>위는 </a:t>
            </a:r>
            <a:r>
              <a:rPr lang="en-US" altLang="ko-KR" sz="1100" dirty="0" err="1">
                <a:latin typeface="Arial"/>
                <a:ea typeface="Arial"/>
                <a:cs typeface="Arial"/>
                <a:sym typeface="Arial"/>
              </a:rPr>
              <a:t>agentClinic</a:t>
            </a:r>
            <a:r>
              <a:rPr lang="en-US" altLang="ko-KR" sz="11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1100" dirty="0">
                <a:latin typeface="Arial"/>
                <a:ea typeface="Arial"/>
                <a:cs typeface="Arial"/>
                <a:sym typeface="Arial"/>
              </a:rPr>
              <a:t>이 제안한 </a:t>
            </a:r>
            <a:r>
              <a:rPr lang="en-US" altLang="ko-KR" sz="1100" dirty="0"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ko-KR" altLang="en-US" sz="1100" dirty="0">
                <a:latin typeface="Arial"/>
                <a:ea typeface="Arial"/>
                <a:cs typeface="Arial"/>
                <a:sym typeface="Arial"/>
              </a:rPr>
              <a:t>가지 평가지표입니다</a:t>
            </a:r>
            <a:r>
              <a:rPr lang="en-US" altLang="ko-KR" sz="1100" dirty="0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먼저 </a:t>
            </a:r>
            <a:r>
              <a:rPr lang="ko-KR" sz="1100" b="1" dirty="0" err="1">
                <a:latin typeface="Arial"/>
                <a:ea typeface="Arial"/>
                <a:cs typeface="Arial"/>
                <a:sym typeface="Arial"/>
              </a:rPr>
              <a:t>Diagnostic</a:t>
            </a:r>
            <a:r>
              <a:rPr lang="ko-KR" sz="1100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100" b="1" dirty="0" err="1">
                <a:latin typeface="Arial"/>
                <a:ea typeface="Arial"/>
                <a:cs typeface="Arial"/>
                <a:sym typeface="Arial"/>
              </a:rPr>
              <a:t>accuracy</a:t>
            </a:r>
            <a:r>
              <a:rPr lang="ko-KR" sz="1100" dirty="0" err="1">
                <a:latin typeface="Arial"/>
                <a:ea typeface="Arial"/>
                <a:cs typeface="Arial"/>
                <a:sym typeface="Arial"/>
              </a:rPr>
              <a:t>는</a:t>
            </a:r>
            <a:br>
              <a:rPr lang="ko-KR" sz="1100" dirty="0">
                <a:latin typeface="Arial"/>
                <a:ea typeface="Arial"/>
                <a:cs typeface="Arial"/>
                <a:sym typeface="Arial"/>
              </a:rPr>
            </a:b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100" dirty="0" err="1">
                <a:latin typeface="Arial"/>
                <a:ea typeface="Arial"/>
                <a:cs typeface="Arial"/>
                <a:sym typeface="Arial"/>
              </a:rPr>
              <a:t>Doctor</a:t>
            </a: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100" dirty="0" err="1">
                <a:latin typeface="Arial"/>
                <a:ea typeface="Arial"/>
                <a:cs typeface="Arial"/>
                <a:sym typeface="Arial"/>
              </a:rPr>
              <a:t>Agent가</a:t>
            </a: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 대화 종료 시 제시한 </a:t>
            </a:r>
            <a:r>
              <a:rPr lang="ko-KR" sz="1100" b="1" dirty="0">
                <a:latin typeface="Arial"/>
                <a:ea typeface="Arial"/>
                <a:cs typeface="Arial"/>
                <a:sym typeface="Arial"/>
              </a:rPr>
              <a:t>최종 진단 텍스트</a:t>
            </a: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를 기준으로,</a:t>
            </a:r>
            <a:br>
              <a:rPr lang="ko-KR" sz="1100" dirty="0">
                <a:latin typeface="Arial"/>
                <a:ea typeface="Arial"/>
                <a:cs typeface="Arial"/>
                <a:sym typeface="Arial"/>
              </a:rPr>
            </a:b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 사전에 정의된 **정답 질병(</a:t>
            </a:r>
            <a:r>
              <a:rPr lang="ko-KR" sz="1100" dirty="0" err="1">
                <a:latin typeface="Arial"/>
                <a:ea typeface="Arial"/>
                <a:cs typeface="Arial"/>
                <a:sym typeface="Arial"/>
              </a:rPr>
              <a:t>Ground</a:t>
            </a: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100" dirty="0" err="1">
                <a:latin typeface="Arial"/>
                <a:ea typeface="Arial"/>
                <a:cs typeface="Arial"/>
                <a:sym typeface="Arial"/>
              </a:rPr>
              <a:t>Truth</a:t>
            </a: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)**과 비교하여 산출</a:t>
            </a:r>
            <a:r>
              <a:rPr lang="ko-KR" altLang="en-US" sz="1100" dirty="0">
                <a:latin typeface="Arial"/>
                <a:ea typeface="Arial"/>
                <a:cs typeface="Arial"/>
                <a:sym typeface="Arial"/>
              </a:rPr>
              <a:t>하였습니다</a:t>
            </a: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ko-KR" sz="1100" dirty="0">
                <a:latin typeface="Arial"/>
                <a:ea typeface="Arial"/>
                <a:cs typeface="Arial"/>
                <a:sym typeface="Arial"/>
              </a:rPr>
            </a:b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 이 과정은 </a:t>
            </a:r>
            <a:r>
              <a:rPr lang="ko-KR" sz="1100" dirty="0" err="1">
                <a:latin typeface="Arial"/>
                <a:ea typeface="Arial"/>
                <a:cs typeface="Arial"/>
                <a:sym typeface="Arial"/>
              </a:rPr>
              <a:t>Moderator</a:t>
            </a: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100" dirty="0" err="1">
                <a:latin typeface="Arial"/>
                <a:ea typeface="Arial"/>
                <a:cs typeface="Arial"/>
                <a:sym typeface="Arial"/>
              </a:rPr>
              <a:t>Agent에</a:t>
            </a: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 의해 자동으로 수행되며,</a:t>
            </a:r>
            <a:br>
              <a:rPr lang="ko-KR" sz="1100" dirty="0">
                <a:latin typeface="Arial"/>
                <a:ea typeface="Arial"/>
                <a:cs typeface="Arial"/>
                <a:sym typeface="Arial"/>
              </a:rPr>
            </a:b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100" dirty="0" err="1">
                <a:latin typeface="Arial"/>
                <a:ea typeface="Arial"/>
                <a:cs typeface="Arial"/>
                <a:sym typeface="Arial"/>
              </a:rPr>
              <a:t>질병명</a:t>
            </a: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 표현 차이나 동의어를 고려한 텍스트 매칭 방식이 사용됩니다.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환자 중심 지표들은</a:t>
            </a:r>
            <a:br>
              <a:rPr lang="ko-KR" sz="1100" dirty="0">
                <a:latin typeface="Arial"/>
                <a:ea typeface="Arial"/>
                <a:cs typeface="Arial"/>
                <a:sym typeface="Arial"/>
              </a:rPr>
            </a:b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 별도의 인간 평가자가 아니라,</a:t>
            </a:r>
            <a:br>
              <a:rPr lang="ko-KR" sz="1100" dirty="0">
                <a:latin typeface="Arial"/>
                <a:ea typeface="Arial"/>
                <a:cs typeface="Arial"/>
                <a:sym typeface="Arial"/>
              </a:rPr>
            </a:b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100" b="1" dirty="0" err="1">
                <a:latin typeface="Arial"/>
                <a:ea typeface="Arial"/>
                <a:cs typeface="Arial"/>
                <a:sym typeface="Arial"/>
              </a:rPr>
              <a:t>Patient</a:t>
            </a:r>
            <a:r>
              <a:rPr lang="ko-KR" sz="1100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100" b="1" dirty="0" err="1">
                <a:latin typeface="Arial"/>
                <a:ea typeface="Arial"/>
                <a:cs typeface="Arial"/>
                <a:sym typeface="Arial"/>
              </a:rPr>
              <a:t>Agent의</a:t>
            </a:r>
            <a:r>
              <a:rPr lang="ko-KR" sz="1100" b="1" dirty="0">
                <a:latin typeface="Arial"/>
                <a:ea typeface="Arial"/>
                <a:cs typeface="Arial"/>
                <a:sym typeface="Arial"/>
              </a:rPr>
              <a:t> 반응을 기반으로 자동 평가</a:t>
            </a: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됩니다.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ko-KR" sz="1100" b="1" dirty="0" err="1">
                <a:latin typeface="Arial"/>
                <a:ea typeface="Arial"/>
                <a:cs typeface="Arial"/>
                <a:sym typeface="Arial"/>
              </a:rPr>
              <a:t>Patient</a:t>
            </a:r>
            <a:r>
              <a:rPr lang="ko-KR" sz="1100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100" b="1" dirty="0" err="1">
                <a:latin typeface="Arial"/>
                <a:ea typeface="Arial"/>
                <a:cs typeface="Arial"/>
                <a:sym typeface="Arial"/>
              </a:rPr>
              <a:t>confidence</a:t>
            </a:r>
            <a:r>
              <a:rPr lang="ko-KR" sz="1100" dirty="0" err="1">
                <a:latin typeface="Arial"/>
                <a:ea typeface="Arial"/>
                <a:cs typeface="Arial"/>
                <a:sym typeface="Arial"/>
              </a:rPr>
              <a:t>는</a:t>
            </a:r>
            <a:br>
              <a:rPr lang="ko-KR" sz="1100" dirty="0">
                <a:latin typeface="Arial"/>
                <a:ea typeface="Arial"/>
                <a:cs typeface="Arial"/>
                <a:sym typeface="Arial"/>
              </a:rPr>
            </a:b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 진단과 설명 이후 환자가 보이는 반응에서</a:t>
            </a:r>
            <a:br>
              <a:rPr lang="ko-KR" sz="1100" dirty="0">
                <a:latin typeface="Arial"/>
                <a:ea typeface="Arial"/>
                <a:cs typeface="Arial"/>
                <a:sym typeface="Arial"/>
              </a:rPr>
            </a:b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 의사에 대한 신뢰 수준을 수치화한 지표이며,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ko-KR" sz="1100" b="1" dirty="0" err="1">
                <a:latin typeface="Arial"/>
                <a:ea typeface="Arial"/>
                <a:cs typeface="Arial"/>
                <a:sym typeface="Arial"/>
              </a:rPr>
              <a:t>Compliance</a:t>
            </a:r>
            <a:r>
              <a:rPr lang="ko-KR" sz="1100" dirty="0" err="1">
                <a:latin typeface="Arial"/>
                <a:ea typeface="Arial"/>
                <a:cs typeface="Arial"/>
                <a:sym typeface="Arial"/>
              </a:rPr>
              <a:t>는</a:t>
            </a:r>
            <a:br>
              <a:rPr lang="ko-KR" sz="1100" dirty="0">
                <a:latin typeface="Arial"/>
                <a:ea typeface="Arial"/>
                <a:cs typeface="Arial"/>
                <a:sym typeface="Arial"/>
              </a:rPr>
            </a:b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 환자가 질문이나 검사 요청에</a:t>
            </a:r>
            <a:br>
              <a:rPr lang="ko-KR" sz="1100" dirty="0">
                <a:latin typeface="Arial"/>
                <a:ea typeface="Arial"/>
                <a:cs typeface="Arial"/>
                <a:sym typeface="Arial"/>
              </a:rPr>
            </a:b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 얼마나 협조적으로 응답했는지를 바탕으로 계산됩니다.</a:t>
            </a:r>
            <a:br>
              <a:rPr lang="ko-KR" sz="1100" dirty="0">
                <a:latin typeface="Arial"/>
                <a:ea typeface="Arial"/>
                <a:cs typeface="Arial"/>
                <a:sym typeface="Arial"/>
              </a:rPr>
            </a:b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 예를 들어, 질문을 회피하거나 정보를 제한적으로 제공하는 경우</a:t>
            </a:r>
            <a:br>
              <a:rPr lang="ko-KR" sz="1100" dirty="0">
                <a:latin typeface="Arial"/>
                <a:ea typeface="Arial"/>
                <a:cs typeface="Arial"/>
                <a:sym typeface="Arial"/>
              </a:rPr>
            </a:b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 낮은 순응도로 평가됩니다.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마지막으로 </a:t>
            </a:r>
            <a:r>
              <a:rPr lang="ko-KR" sz="1100" b="1" dirty="0" err="1">
                <a:latin typeface="Arial"/>
                <a:ea typeface="Arial"/>
                <a:cs typeface="Arial"/>
                <a:sym typeface="Arial"/>
              </a:rPr>
              <a:t>Consultation</a:t>
            </a:r>
            <a:r>
              <a:rPr lang="ko-KR" sz="1100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100" b="1" dirty="0" err="1">
                <a:latin typeface="Arial"/>
                <a:ea typeface="Arial"/>
                <a:cs typeface="Arial"/>
                <a:sym typeface="Arial"/>
              </a:rPr>
              <a:t>rating</a:t>
            </a:r>
            <a:r>
              <a:rPr lang="ko-KR" sz="1100" dirty="0" err="1">
                <a:latin typeface="Arial"/>
                <a:ea typeface="Arial"/>
                <a:cs typeface="Arial"/>
                <a:sym typeface="Arial"/>
              </a:rPr>
              <a:t>은</a:t>
            </a:r>
            <a:br>
              <a:rPr lang="ko-KR" sz="1100" dirty="0">
                <a:latin typeface="Arial"/>
                <a:ea typeface="Arial"/>
                <a:cs typeface="Arial"/>
                <a:sym typeface="Arial"/>
              </a:rPr>
            </a:b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 단일 발언이 아니라</a:t>
            </a:r>
            <a:br>
              <a:rPr lang="ko-KR" sz="1100" dirty="0">
                <a:latin typeface="Arial"/>
                <a:ea typeface="Arial"/>
                <a:cs typeface="Arial"/>
                <a:sym typeface="Arial"/>
              </a:rPr>
            </a:b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 진료 전반의 대화 흐름과 상호작용 품질을 종합하여</a:t>
            </a:r>
            <a:br>
              <a:rPr lang="ko-KR" sz="1100" dirty="0">
                <a:latin typeface="Arial"/>
                <a:ea typeface="Arial"/>
                <a:cs typeface="Arial"/>
                <a:sym typeface="Arial"/>
              </a:rPr>
            </a:b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 산출되는 상담 품질 지표입니다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bc896615d4_0_5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bc896615d4_0_5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6" name="Google Shape;286;g3bc896615d4_0_5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ko-KR" sz="1100" dirty="0" err="1">
                <a:latin typeface="Arial"/>
                <a:ea typeface="Arial"/>
                <a:cs typeface="Arial"/>
                <a:sym typeface="Arial"/>
              </a:rPr>
              <a:t>AgentClinic은</a:t>
            </a: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 진단 정확도 외에도 환자 신뢰도나 순응도와 같은 다양한 평가 지표를 제안합니다.</a:t>
            </a:r>
            <a:br>
              <a:rPr lang="ko-KR" sz="1100" dirty="0">
                <a:latin typeface="Arial"/>
                <a:ea typeface="Arial"/>
                <a:cs typeface="Arial"/>
                <a:sym typeface="Arial"/>
              </a:rPr>
            </a:b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1100" dirty="0">
                <a:latin typeface="Arial"/>
                <a:ea typeface="Arial"/>
                <a:cs typeface="Arial"/>
                <a:sym typeface="Arial"/>
              </a:rPr>
              <a:t>하지만</a:t>
            </a: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, 논문에서는 결과를 주로</a:t>
            </a:r>
            <a:r>
              <a:rPr lang="ko-KR" altLang="en-US" sz="11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**</a:t>
            </a:r>
            <a:r>
              <a:rPr lang="ko-KR" sz="1100" dirty="0" err="1">
                <a:latin typeface="Arial"/>
                <a:ea typeface="Arial"/>
                <a:cs typeface="Arial"/>
                <a:sym typeface="Arial"/>
              </a:rPr>
              <a:t>diagnostic</a:t>
            </a: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100" dirty="0" err="1">
                <a:latin typeface="Arial"/>
                <a:ea typeface="Arial"/>
                <a:cs typeface="Arial"/>
                <a:sym typeface="Arial"/>
              </a:rPr>
              <a:t>accuracy</a:t>
            </a: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 중심으로 보고하고 있습니다.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그 이유 중 첫 번째는 </a:t>
            </a:r>
            <a:r>
              <a:rPr lang="ko-KR" sz="1100" b="1" dirty="0">
                <a:latin typeface="Arial"/>
                <a:ea typeface="Arial"/>
                <a:cs typeface="Arial"/>
                <a:sym typeface="Arial"/>
              </a:rPr>
              <a:t>비교 가능성</a:t>
            </a: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입니다.</a:t>
            </a:r>
            <a:r>
              <a:rPr lang="ko-KR" altLang="en-US" sz="11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기존 </a:t>
            </a:r>
            <a:r>
              <a:rPr lang="ko-KR" sz="1100" dirty="0" err="1">
                <a:latin typeface="Arial"/>
                <a:ea typeface="Arial"/>
                <a:cs typeface="Arial"/>
                <a:sym typeface="Arial"/>
              </a:rPr>
              <a:t>MedQA나</a:t>
            </a: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 다른 의료 QA 벤치마크들은</a:t>
            </a:r>
            <a:br>
              <a:rPr lang="ko-KR" sz="1100" dirty="0">
                <a:latin typeface="Arial"/>
                <a:ea typeface="Arial"/>
                <a:cs typeface="Arial"/>
                <a:sym typeface="Arial"/>
              </a:rPr>
            </a:b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 거의 모두 </a:t>
            </a:r>
            <a:r>
              <a:rPr lang="ko-KR" sz="1100" dirty="0" err="1">
                <a:latin typeface="Arial"/>
                <a:ea typeface="Arial"/>
                <a:cs typeface="Arial"/>
                <a:sym typeface="Arial"/>
              </a:rPr>
              <a:t>accuracy를</a:t>
            </a: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 핵심 지표로 사용하고 있기 때문에,</a:t>
            </a:r>
            <a:r>
              <a:rPr lang="ko-KR" altLang="en-US" sz="11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새로운 평가 환경인 </a:t>
            </a:r>
            <a:r>
              <a:rPr lang="ko-KR" sz="1100" dirty="0" err="1">
                <a:latin typeface="Arial"/>
                <a:ea typeface="Arial"/>
                <a:cs typeface="Arial"/>
                <a:sym typeface="Arial"/>
              </a:rPr>
              <a:t>AgentClinic의</a:t>
            </a: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 결과를 기존 연구와 직접 비교하기 위해서는 동일한 기준 지표가 필요합니다.</a:t>
            </a:r>
            <a:endParaRPr lang="en-US" altLang="ko-KR"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두 번째 이유는 </a:t>
            </a:r>
            <a:r>
              <a:rPr lang="ko-KR" sz="1100" b="1" dirty="0">
                <a:latin typeface="Arial"/>
                <a:ea typeface="Arial"/>
                <a:cs typeface="Arial"/>
                <a:sym typeface="Arial"/>
              </a:rPr>
              <a:t>지표의 안정성</a:t>
            </a: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입니다.</a:t>
            </a:r>
            <a:r>
              <a:rPr lang="ko-KR" altLang="en-US" sz="11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100" dirty="0" err="1">
                <a:latin typeface="Arial"/>
                <a:ea typeface="Arial"/>
                <a:cs typeface="Arial"/>
                <a:sym typeface="Arial"/>
              </a:rPr>
              <a:t>Accuracy는</a:t>
            </a: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 실험 반복 시 변동성이 상대적으로 낮아</a:t>
            </a:r>
            <a:br>
              <a:rPr lang="ko-KR" sz="1100" dirty="0">
                <a:latin typeface="Arial"/>
                <a:ea typeface="Arial"/>
                <a:cs typeface="Arial"/>
                <a:sym typeface="Arial"/>
              </a:rPr>
            </a:b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 모델 간 성능 차이를 명확하게 보여줄 수 있는 반면,</a:t>
            </a:r>
            <a:br>
              <a:rPr lang="ko-KR" sz="1100" dirty="0">
                <a:latin typeface="Arial"/>
                <a:ea typeface="Arial"/>
                <a:cs typeface="Arial"/>
                <a:sym typeface="Arial"/>
              </a:rPr>
            </a:b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 환자 신뢰도나 상담 만족도와 같은 지표들은</a:t>
            </a:r>
            <a:br>
              <a:rPr lang="ko-KR" sz="1100" dirty="0">
                <a:latin typeface="Arial"/>
                <a:ea typeface="Arial"/>
                <a:cs typeface="Arial"/>
                <a:sym typeface="Arial"/>
              </a:rPr>
            </a:b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 환자 에이전트의 반응 특성에 따라</a:t>
            </a:r>
            <a:br>
              <a:rPr lang="ko-KR" sz="1100" dirty="0">
                <a:latin typeface="Arial"/>
                <a:ea typeface="Arial"/>
                <a:cs typeface="Arial"/>
                <a:sym typeface="Arial"/>
              </a:rPr>
            </a:b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 변동성이 더 크게 나타날 수 있습니다.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따라서 </a:t>
            </a:r>
            <a:r>
              <a:rPr lang="ko-KR" sz="1100" dirty="0" err="1">
                <a:latin typeface="Arial"/>
                <a:ea typeface="Arial"/>
                <a:cs typeface="Arial"/>
                <a:sym typeface="Arial"/>
              </a:rPr>
              <a:t>accuracy는</a:t>
            </a:r>
            <a:br>
              <a:rPr lang="ko-KR" sz="1100" dirty="0">
                <a:latin typeface="Arial"/>
                <a:ea typeface="Arial"/>
                <a:cs typeface="Arial"/>
                <a:sym typeface="Arial"/>
              </a:rPr>
            </a:b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 임상 상호작용의 질을 완전히 설명하지는 못하지만,</a:t>
            </a:r>
            <a:r>
              <a:rPr lang="ko-KR" altLang="en-US" sz="11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모델 비교를 위한 기준선으로서</a:t>
            </a:r>
            <a:br>
              <a:rPr lang="ko-KR" sz="1100" dirty="0">
                <a:latin typeface="Arial"/>
                <a:ea typeface="Arial"/>
                <a:cs typeface="Arial"/>
                <a:sym typeface="Arial"/>
              </a:rPr>
            </a:br>
            <a:r>
              <a:rPr lang="ko-KR" sz="1100" dirty="0">
                <a:latin typeface="Arial"/>
                <a:ea typeface="Arial"/>
                <a:cs typeface="Arial"/>
                <a:sym typeface="Arial"/>
              </a:rPr>
              <a:t> 가장 적절한 지표로 선택되었다고 해석할 수 있습니다.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g3bc896615d4_0_56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ko-KR" altLang="en-US" sz="1100" dirty="0"/>
              <a:t>이 표는 실제 전자의무기록</a:t>
            </a:r>
            <a:r>
              <a:rPr lang="en-US" altLang="ko-KR" sz="1100" dirty="0"/>
              <a:t>, </a:t>
            </a:r>
            <a:r>
              <a:rPr lang="ko-KR" altLang="en-US" sz="1100" dirty="0"/>
              <a:t>즉 </a:t>
            </a:r>
            <a:r>
              <a:rPr lang="en-US" sz="1100" dirty="0"/>
              <a:t>EHR </a:t>
            </a:r>
            <a:r>
              <a:rPr lang="ko-KR" altLang="en-US" sz="1100" dirty="0"/>
              <a:t>기반 임상 시뮬레이션 환경에서</a:t>
            </a:r>
            <a:br>
              <a:rPr lang="ko-KR" altLang="en-US" sz="1100" dirty="0"/>
            </a:br>
            <a:r>
              <a:rPr lang="ko-KR" altLang="en-US" sz="1100" dirty="0" err="1"/>
              <a:t>모델별</a:t>
            </a:r>
            <a:r>
              <a:rPr lang="ko-KR" altLang="en-US" sz="1100" dirty="0"/>
              <a:t> 진단 정확도를 비교한 결과입니다</a:t>
            </a:r>
            <a:r>
              <a:rPr lang="en-US" altLang="ko-KR" sz="1100" dirty="0"/>
              <a:t>.</a:t>
            </a:r>
          </a:p>
          <a:p>
            <a:r>
              <a:rPr lang="ko-KR" altLang="en-US" sz="1100" dirty="0"/>
              <a:t>전체적으로 보면</a:t>
            </a:r>
            <a:r>
              <a:rPr lang="en-US" altLang="ko-KR" sz="1100" dirty="0"/>
              <a:t>,</a:t>
            </a:r>
            <a:br>
              <a:rPr lang="en-US" altLang="ko-KR" sz="1100" dirty="0"/>
            </a:br>
            <a:r>
              <a:rPr lang="en-US" sz="1100" b="1" dirty="0"/>
              <a:t>Claude 3.5</a:t>
            </a:r>
            <a:r>
              <a:rPr lang="ko-KR" altLang="en-US" sz="1100" b="1" dirty="0"/>
              <a:t>가 가장 높은 성능</a:t>
            </a:r>
            <a:r>
              <a:rPr lang="ko-KR" altLang="en-US" sz="1100" dirty="0"/>
              <a:t>을 보였고</a:t>
            </a:r>
            <a:r>
              <a:rPr lang="en-US" altLang="ko-KR" sz="1100" dirty="0"/>
              <a:t>,</a:t>
            </a:r>
            <a:br>
              <a:rPr lang="en-US" altLang="ko-KR" sz="1100" dirty="0"/>
            </a:br>
            <a:r>
              <a:rPr lang="ko-KR" altLang="en-US" sz="1100" dirty="0"/>
              <a:t>그 다음으로 </a:t>
            </a:r>
            <a:r>
              <a:rPr lang="en-US" sz="1100" dirty="0" err="1"/>
              <a:t>OpenBioLLM</a:t>
            </a:r>
            <a:r>
              <a:rPr lang="ko-KR" altLang="en-US" sz="1100" dirty="0"/>
              <a:t>과 </a:t>
            </a:r>
            <a:r>
              <a:rPr lang="en-US" sz="1100" dirty="0"/>
              <a:t>GPT-4</a:t>
            </a:r>
            <a:r>
              <a:rPr lang="ko-KR" altLang="en-US" sz="1100" dirty="0"/>
              <a:t>가 뒤를 이었습니다</a:t>
            </a:r>
            <a:r>
              <a:rPr lang="en-US" altLang="ko-KR" sz="1100" dirty="0"/>
              <a:t>.</a:t>
            </a:r>
          </a:p>
          <a:p>
            <a:r>
              <a:rPr lang="ko-KR" altLang="en-US" sz="1100" dirty="0"/>
              <a:t>하지만 대부분의 모델은</a:t>
            </a:r>
            <a:br>
              <a:rPr lang="ko-KR" altLang="en-US" sz="1100" dirty="0"/>
            </a:br>
            <a:r>
              <a:rPr lang="en-US" altLang="ko-KR" sz="1100" dirty="0"/>
              <a:t>30% </a:t>
            </a:r>
            <a:r>
              <a:rPr lang="ko-KR" altLang="en-US" sz="1100" dirty="0"/>
              <a:t>전후의 낮은 정확도에 머물렀습니다</a:t>
            </a:r>
            <a:r>
              <a:rPr lang="en-US" altLang="ko-KR" sz="1100" dirty="0"/>
              <a:t>.</a:t>
            </a:r>
            <a:br>
              <a:rPr lang="en-US" altLang="ko-KR" sz="1100" dirty="0"/>
            </a:br>
            <a:r>
              <a:rPr lang="ko-KR" altLang="en-US" sz="1100" dirty="0"/>
              <a:t>이는 </a:t>
            </a:r>
            <a:r>
              <a:rPr lang="en-US" sz="1100" dirty="0"/>
              <a:t>EHR </a:t>
            </a:r>
            <a:r>
              <a:rPr lang="ko-KR" altLang="en-US" sz="1100" dirty="0"/>
              <a:t>환경이</a:t>
            </a:r>
            <a:br>
              <a:rPr lang="ko-KR" altLang="en-US" sz="1100" dirty="0"/>
            </a:br>
            <a:r>
              <a:rPr lang="ko-KR" altLang="en-US" sz="1100" dirty="0"/>
              <a:t>단순 문제 풀이보다</a:t>
            </a:r>
            <a:br>
              <a:rPr lang="ko-KR" altLang="en-US" sz="1100" dirty="0"/>
            </a:br>
            <a:r>
              <a:rPr lang="ko-KR" altLang="en-US" sz="1100" dirty="0"/>
              <a:t>환자의 여러 임상 정보를 종합해야 하는</a:t>
            </a:r>
            <a:br>
              <a:rPr lang="ko-KR" altLang="en-US" sz="1100" dirty="0"/>
            </a:br>
            <a:r>
              <a:rPr lang="ko-KR" altLang="en-US" sz="1100" dirty="0"/>
              <a:t>훨씬 어려운 추론 문제임을 보여줍니다</a:t>
            </a:r>
            <a:r>
              <a:rPr lang="en-US" altLang="ko-KR" sz="1100" dirty="0"/>
              <a:t>.</a:t>
            </a:r>
          </a:p>
          <a:p>
            <a:r>
              <a:rPr lang="ko-KR" altLang="en-US" sz="1100" dirty="0"/>
              <a:t>특히 일부 최신 모델이나 대형 모델도</a:t>
            </a:r>
            <a:br>
              <a:rPr lang="ko-KR" altLang="en-US" sz="1100" dirty="0"/>
            </a:br>
            <a:r>
              <a:rPr lang="ko-KR" altLang="en-US" sz="1100" dirty="0"/>
              <a:t>기대만큼의 성능을 보이지 못했습니다</a:t>
            </a:r>
            <a:r>
              <a:rPr lang="en-US" altLang="ko-KR" sz="1100" dirty="0"/>
              <a:t>.</a:t>
            </a:r>
            <a:br>
              <a:rPr lang="en-US" altLang="ko-KR" sz="1100" dirty="0"/>
            </a:br>
            <a:r>
              <a:rPr lang="ko-KR" altLang="en-US" sz="1100" dirty="0"/>
              <a:t>이는 모델 크기나 최신성만으로는</a:t>
            </a:r>
            <a:br>
              <a:rPr lang="ko-KR" altLang="en-US" sz="1100" dirty="0"/>
            </a:br>
            <a:r>
              <a:rPr lang="en-US" sz="1100" dirty="0"/>
              <a:t>EHR </a:t>
            </a:r>
            <a:r>
              <a:rPr lang="ko-KR" altLang="en-US" sz="1100" dirty="0"/>
              <a:t>기반 임상 추론을 잘 수행하기 어렵다는 점을 </a:t>
            </a:r>
            <a:r>
              <a:rPr lang="ko-KR" altLang="en-US" sz="1100" dirty="0" err="1"/>
              <a:t>알수</a:t>
            </a:r>
            <a:r>
              <a:rPr lang="ko-KR" altLang="en-US" sz="1100" dirty="0"/>
              <a:t> 있습니다</a:t>
            </a:r>
            <a:r>
              <a:rPr lang="en-US" altLang="ko-KR" sz="1100" dirty="0"/>
              <a:t>.</a:t>
            </a:r>
          </a:p>
          <a:p>
            <a:r>
              <a:rPr lang="ko-KR" altLang="en-US" sz="1100" dirty="0"/>
              <a:t>종합하면</a:t>
            </a:r>
            <a:r>
              <a:rPr lang="en-US" altLang="ko-KR" sz="1100" dirty="0"/>
              <a:t>,</a:t>
            </a:r>
            <a:br>
              <a:rPr lang="en-US" altLang="ko-KR" sz="1100" dirty="0"/>
            </a:br>
            <a:r>
              <a:rPr lang="en-US" sz="1100" dirty="0" err="1"/>
              <a:t>AgentClinic</a:t>
            </a:r>
            <a:r>
              <a:rPr lang="en-US" sz="1100" dirty="0"/>
              <a:t>-MIMIC-IV </a:t>
            </a:r>
            <a:r>
              <a:rPr lang="ko-KR" altLang="en-US" sz="1100" dirty="0"/>
              <a:t>결과는</a:t>
            </a:r>
            <a:br>
              <a:rPr lang="ko-KR" altLang="en-US" sz="1100" dirty="0"/>
            </a:br>
            <a:r>
              <a:rPr lang="ko-KR" altLang="en-US" sz="1100" dirty="0"/>
              <a:t>현재의 </a:t>
            </a:r>
            <a:r>
              <a:rPr lang="en-US" sz="1100" dirty="0"/>
              <a:t>LLM</a:t>
            </a:r>
            <a:r>
              <a:rPr lang="ko-KR" altLang="en-US" sz="1100" dirty="0"/>
              <a:t>이 실제 </a:t>
            </a:r>
            <a:r>
              <a:rPr lang="en-US" sz="1100" dirty="0"/>
              <a:t>EHR </a:t>
            </a:r>
            <a:r>
              <a:rPr lang="ko-KR" altLang="en-US" sz="1100" dirty="0"/>
              <a:t>기반 임상 환경에 적용되기까지</a:t>
            </a:r>
            <a:br>
              <a:rPr lang="ko-KR" altLang="en-US" sz="1100" dirty="0"/>
            </a:br>
            <a:r>
              <a:rPr lang="ko-KR" altLang="en-US" sz="1100" dirty="0"/>
              <a:t>여전히 큰 성능 격차가 존재함을 보여줍니다</a:t>
            </a:r>
            <a:r>
              <a:rPr lang="en-US" altLang="ko-KR" sz="1100" dirty="0"/>
              <a:t>.</a:t>
            </a:r>
          </a:p>
        </p:txBody>
      </p:sp>
      <p:sp>
        <p:nvSpPr>
          <p:cNvPr id="301" name="Google Shape;30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bc896615d4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5" name="Google Shape;315;g3bc896615d4_0_1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100" dirty="0" err="1"/>
              <a:t>다음은</a:t>
            </a:r>
            <a:r>
              <a:rPr lang="en-US" sz="1100" dirty="0"/>
              <a:t> </a:t>
            </a:r>
            <a:r>
              <a:rPr lang="en-US" sz="1100" dirty="0" err="1"/>
              <a:t>학습시</a:t>
            </a:r>
            <a:r>
              <a:rPr lang="en-US" sz="1100" dirty="0"/>
              <a:t> </a:t>
            </a:r>
            <a:r>
              <a:rPr lang="en-US" sz="1100" dirty="0" err="1"/>
              <a:t>의학시험</a:t>
            </a:r>
            <a:r>
              <a:rPr lang="en-US" sz="1100" dirty="0"/>
              <a:t> </a:t>
            </a:r>
            <a:r>
              <a:rPr lang="en-US" sz="1100" dirty="0" err="1"/>
              <a:t>및</a:t>
            </a:r>
            <a:r>
              <a:rPr lang="en-US" sz="1100" dirty="0"/>
              <a:t> </a:t>
            </a:r>
            <a:r>
              <a:rPr lang="en-US" sz="1100" dirty="0" err="1"/>
              <a:t>에이전트</a:t>
            </a:r>
            <a:r>
              <a:rPr lang="en-US" sz="1100" dirty="0"/>
              <a:t> </a:t>
            </a:r>
            <a:r>
              <a:rPr lang="en-US" sz="1100" dirty="0" err="1"/>
              <a:t>상호작용을</a:t>
            </a:r>
            <a:r>
              <a:rPr lang="en-US" sz="1100" dirty="0"/>
              <a:t> </a:t>
            </a:r>
            <a:r>
              <a:rPr lang="en-US" sz="1100" dirty="0" err="1"/>
              <a:t>적용한</a:t>
            </a:r>
            <a:r>
              <a:rPr lang="en-US" sz="1100" dirty="0"/>
              <a:t> </a:t>
            </a:r>
            <a:r>
              <a:rPr lang="ko-KR" altLang="en-US" sz="1100" dirty="0"/>
              <a:t>결과 입니다</a:t>
            </a:r>
            <a:endParaRPr lang="en-US" sz="1100" dirty="0"/>
          </a:p>
          <a:p>
            <a:endParaRPr lang="en-US" sz="1100" dirty="0"/>
          </a:p>
          <a:p>
            <a:r>
              <a:rPr lang="ko-KR" altLang="en-US" sz="1100" dirty="0"/>
              <a:t>이 결과에서 가장 높은 성능을 보인 모델은</a:t>
            </a:r>
            <a:br>
              <a:rPr lang="ko-KR" altLang="en-US" sz="1100" dirty="0"/>
            </a:br>
            <a:r>
              <a:rPr lang="en-US" sz="1100" b="1" dirty="0"/>
              <a:t>Claude 3.5 Sonnet</a:t>
            </a:r>
            <a:r>
              <a:rPr lang="ko-KR" altLang="en-US" sz="1100" dirty="0" err="1"/>
              <a:t>으로</a:t>
            </a:r>
            <a:r>
              <a:rPr lang="en-US" altLang="ko-KR" sz="1100" dirty="0"/>
              <a:t>, </a:t>
            </a:r>
            <a:r>
              <a:rPr lang="ko-KR" altLang="en-US" sz="1100" dirty="0"/>
              <a:t>약 </a:t>
            </a:r>
            <a:r>
              <a:rPr lang="en-US" altLang="ko-KR" sz="1100" dirty="0"/>
              <a:t>62%</a:t>
            </a:r>
            <a:r>
              <a:rPr lang="ko-KR" altLang="en-US" sz="1100" dirty="0"/>
              <a:t>의 정확도를 기록했습니다</a:t>
            </a:r>
            <a:r>
              <a:rPr lang="en-US" altLang="ko-KR" sz="1100" dirty="0"/>
              <a:t>.</a:t>
            </a:r>
            <a:br>
              <a:rPr lang="en-US" altLang="ko-KR" sz="1100" dirty="0"/>
            </a:br>
            <a:r>
              <a:rPr lang="ko-KR" altLang="en-US" sz="1100" dirty="0"/>
              <a:t>이는 상호작용이 포함된 환경에서도</a:t>
            </a:r>
            <a:br>
              <a:rPr lang="ko-KR" altLang="en-US" sz="1100" dirty="0"/>
            </a:br>
            <a:r>
              <a:rPr lang="ko-KR" altLang="en-US" sz="1100" dirty="0"/>
              <a:t>가장 안정적인 임상 추론 성능을 </a:t>
            </a:r>
            <a:r>
              <a:rPr lang="ko-KR" altLang="en-US" sz="1100" dirty="0" err="1"/>
              <a:t>보였다는것을</a:t>
            </a:r>
            <a:r>
              <a:rPr lang="ko-KR" altLang="en-US" sz="1100" dirty="0"/>
              <a:t> </a:t>
            </a:r>
            <a:r>
              <a:rPr lang="ko-KR" altLang="en-US" sz="1100" dirty="0" err="1"/>
              <a:t>알수</a:t>
            </a:r>
            <a:r>
              <a:rPr lang="ko-KR" altLang="en-US" sz="1100" dirty="0"/>
              <a:t> 있습니다</a:t>
            </a:r>
            <a:r>
              <a:rPr lang="en-US" altLang="ko-KR" sz="1100" dirty="0"/>
              <a:t>.</a:t>
            </a:r>
          </a:p>
          <a:p>
            <a:r>
              <a:rPr lang="ko-KR" altLang="en-US" sz="1100" dirty="0"/>
              <a:t>그 다음으로는 </a:t>
            </a:r>
            <a:r>
              <a:rPr lang="en-US" sz="1100" dirty="0" err="1"/>
              <a:t>OpenBioLLM</a:t>
            </a:r>
            <a:r>
              <a:rPr lang="ko-KR" altLang="en-US" sz="1100" dirty="0"/>
              <a:t>과 인간 의사가 뒤를 이었습니다</a:t>
            </a:r>
            <a:r>
              <a:rPr lang="en-US" altLang="ko-KR" sz="1100" dirty="0"/>
              <a:t>.</a:t>
            </a:r>
            <a:br>
              <a:rPr lang="en-US" altLang="ko-KR" sz="1100" dirty="0"/>
            </a:br>
            <a:r>
              <a:rPr lang="ko-KR" altLang="en-US" sz="1100" dirty="0"/>
              <a:t>다만 인간 의사는 평가자 수가 적고</a:t>
            </a:r>
            <a:br>
              <a:rPr lang="ko-KR" altLang="en-US" sz="1100" dirty="0"/>
            </a:br>
            <a:r>
              <a:rPr lang="ko-KR" altLang="en-US" sz="1100" dirty="0"/>
              <a:t>임상 경험 차이가 커서 결과의 변동성이 컸습니다</a:t>
            </a:r>
            <a:r>
              <a:rPr lang="en-US" altLang="ko-KR" sz="1100" dirty="0"/>
              <a:t>.</a:t>
            </a:r>
          </a:p>
          <a:p>
            <a:r>
              <a:rPr lang="en-US" sz="1100" dirty="0"/>
              <a:t>GPT-4</a:t>
            </a:r>
            <a:r>
              <a:rPr lang="ko-KR" altLang="en-US" sz="1100" dirty="0"/>
              <a:t>는 약 </a:t>
            </a:r>
            <a:r>
              <a:rPr lang="en-US" altLang="ko-KR" sz="1100" dirty="0"/>
              <a:t>51% </a:t>
            </a:r>
            <a:r>
              <a:rPr lang="ko-KR" altLang="en-US" sz="1100" dirty="0"/>
              <a:t>수준으로</a:t>
            </a:r>
            <a:r>
              <a:rPr lang="en-US" altLang="ko-KR" sz="1100" dirty="0"/>
              <a:t>,</a:t>
            </a:r>
            <a:br>
              <a:rPr lang="en-US" altLang="ko-KR" sz="1100" dirty="0"/>
            </a:br>
            <a:r>
              <a:rPr lang="ko-KR" altLang="en-US" sz="1100" dirty="0"/>
              <a:t>인간 의사 평균과 비슷한 성능을 보였습니다</a:t>
            </a:r>
            <a:r>
              <a:rPr lang="en-US" altLang="ko-KR" sz="1100" dirty="0"/>
              <a:t>.</a:t>
            </a:r>
            <a:br>
              <a:rPr lang="en-US" altLang="ko-KR" sz="1100" dirty="0"/>
            </a:br>
            <a:r>
              <a:rPr lang="ko-KR" altLang="en-US" sz="1100" dirty="0"/>
              <a:t>이는 </a:t>
            </a:r>
            <a:r>
              <a:rPr lang="en-US" sz="1100" dirty="0"/>
              <a:t>LLM</a:t>
            </a:r>
            <a:r>
              <a:rPr lang="ko-KR" altLang="en-US" sz="1100" dirty="0"/>
              <a:t>이 상호작용 기반 환경에서도</a:t>
            </a:r>
            <a:br>
              <a:rPr lang="ko-KR" altLang="en-US" sz="1100" dirty="0"/>
            </a:br>
            <a:r>
              <a:rPr lang="ko-KR" altLang="en-US" sz="1100" dirty="0"/>
              <a:t>일정 수준의 임상 추론 능력에 도달했음을 보여줍니다</a:t>
            </a:r>
            <a:r>
              <a:rPr lang="en-US" altLang="ko-KR" sz="1100" dirty="0"/>
              <a:t>.</a:t>
            </a:r>
          </a:p>
          <a:p>
            <a:r>
              <a:rPr lang="ko-KR" altLang="en-US" sz="1100" dirty="0"/>
              <a:t>반면 </a:t>
            </a:r>
            <a:r>
              <a:rPr lang="en-US" sz="1100" dirty="0" err="1"/>
              <a:t>Mixtral</a:t>
            </a:r>
            <a:r>
              <a:rPr lang="ko-KR" altLang="en-US" sz="1100" dirty="0"/>
              <a:t>이나 </a:t>
            </a:r>
            <a:r>
              <a:rPr lang="en-US" sz="1100" dirty="0"/>
              <a:t>GPT-3.5 </a:t>
            </a:r>
            <a:r>
              <a:rPr lang="ko-KR" altLang="en-US" sz="1100" dirty="0"/>
              <a:t>같은 모델들은</a:t>
            </a:r>
            <a:br>
              <a:rPr lang="ko-KR" altLang="en-US" sz="1100" dirty="0"/>
            </a:br>
            <a:r>
              <a:rPr lang="en-US" altLang="ko-KR" sz="1100" dirty="0"/>
              <a:t>30%</a:t>
            </a:r>
            <a:r>
              <a:rPr lang="ko-KR" altLang="en-US" sz="1100" dirty="0"/>
              <a:t>대 정확도에 머물렀으며</a:t>
            </a:r>
            <a:r>
              <a:rPr lang="en-US" altLang="ko-KR" sz="1100" dirty="0"/>
              <a:t>,</a:t>
            </a:r>
            <a:br>
              <a:rPr lang="en-US" altLang="ko-KR" sz="1100" dirty="0"/>
            </a:br>
            <a:r>
              <a:rPr lang="ko-KR" altLang="en-US" sz="1100" dirty="0"/>
              <a:t>이는 단순 지식은 활용할 수 있지만</a:t>
            </a:r>
            <a:br>
              <a:rPr lang="ko-KR" altLang="en-US" sz="1100" dirty="0"/>
            </a:br>
            <a:r>
              <a:rPr lang="ko-KR" altLang="en-US" sz="1100" dirty="0"/>
              <a:t>상호작용을 통한 정보 통합에는 한계가 있음을 </a:t>
            </a:r>
            <a:r>
              <a:rPr lang="ko-KR" altLang="en-US" sz="1100" dirty="0" err="1"/>
              <a:t>알수</a:t>
            </a:r>
            <a:r>
              <a:rPr lang="ko-KR" altLang="en-US" sz="1100" dirty="0"/>
              <a:t> 있습니다</a:t>
            </a:r>
            <a:r>
              <a:rPr lang="en-US" altLang="ko-KR" sz="1100" dirty="0"/>
              <a:t>.</a:t>
            </a:r>
          </a:p>
          <a:p>
            <a:r>
              <a:rPr lang="ko-KR" altLang="en-US" sz="1100" dirty="0"/>
              <a:t>종합하면</a:t>
            </a:r>
            <a:r>
              <a:rPr lang="en-US" altLang="ko-KR" sz="1100" dirty="0"/>
              <a:t>,</a:t>
            </a:r>
            <a:br>
              <a:rPr lang="en-US" altLang="ko-KR" sz="1100" dirty="0"/>
            </a:br>
            <a:r>
              <a:rPr lang="ko-KR" altLang="en-US" sz="1100" dirty="0"/>
              <a:t>의학시험 및 에이전트 상호작용을 적용하여 학습한다면 기존</a:t>
            </a:r>
            <a:r>
              <a:rPr lang="en-US" altLang="ko-KR" sz="1100" dirty="0"/>
              <a:t> </a:t>
            </a:r>
            <a:r>
              <a:rPr lang="en-US" altLang="ko-KR" sz="1100" dirty="0" err="1"/>
              <a:t>MedQA</a:t>
            </a:r>
            <a:r>
              <a:rPr lang="ko-KR" altLang="en-US" sz="1100" dirty="0"/>
              <a:t>보다 훨씬 어렵고</a:t>
            </a:r>
            <a:r>
              <a:rPr lang="en-US" altLang="ko-KR" sz="1100" dirty="0"/>
              <a:t>,</a:t>
            </a:r>
            <a:br>
              <a:rPr lang="en-US" altLang="ko-KR" sz="1100" dirty="0"/>
            </a:br>
            <a:r>
              <a:rPr lang="ko-KR" altLang="en-US" sz="1100" dirty="0"/>
              <a:t>시험 성능과 실제 임상 추론 성능 사이의 차이를</a:t>
            </a:r>
            <a:br>
              <a:rPr lang="ko-KR" altLang="en-US" sz="1100" dirty="0"/>
            </a:br>
            <a:r>
              <a:rPr lang="ko-KR" altLang="en-US" sz="1100" dirty="0"/>
              <a:t>명확히 드러내는 환경이라고 볼 수 있습니다</a:t>
            </a:r>
            <a:r>
              <a:rPr lang="en-US" altLang="ko-KR" sz="1100" dirty="0"/>
              <a:t>.</a:t>
            </a:r>
          </a:p>
        </p:txBody>
      </p:sp>
      <p:sp>
        <p:nvSpPr>
          <p:cNvPr id="316" name="Google Shape;316;g3bc896615d4_0_1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bc896615d4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0" name="Google Shape;330;g3bc896615d4_0_1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ko-KR" altLang="en-US" sz="1100" dirty="0"/>
              <a:t>이 결과는 </a:t>
            </a:r>
            <a:r>
              <a:rPr lang="en-US" sz="1100" dirty="0"/>
              <a:t>NEJM </a:t>
            </a:r>
            <a:r>
              <a:rPr lang="ko-KR" altLang="en-US" sz="1100" dirty="0"/>
              <a:t>실제 임상 케이스를 기반으로</a:t>
            </a:r>
            <a:r>
              <a:rPr lang="en-US" altLang="ko-KR" sz="1100" dirty="0"/>
              <a:t>,</a:t>
            </a:r>
            <a:br>
              <a:rPr lang="en-US" altLang="ko-KR" sz="1100" dirty="0"/>
            </a:br>
            <a:r>
              <a:rPr lang="ko-KR" altLang="en-US" sz="1100" dirty="0"/>
              <a:t>의료 이미지를 포함한 </a:t>
            </a:r>
            <a:r>
              <a:rPr lang="ko-KR" altLang="en-US" sz="1100" dirty="0" err="1"/>
              <a:t>멀티모달</a:t>
            </a:r>
            <a:r>
              <a:rPr lang="ko-KR" altLang="en-US" sz="1100" dirty="0"/>
              <a:t> 진단 성능을 평가한 것입니다</a:t>
            </a:r>
            <a:r>
              <a:rPr lang="en-US" altLang="ko-KR" sz="1100" dirty="0"/>
              <a:t>.</a:t>
            </a:r>
          </a:p>
          <a:p>
            <a:r>
              <a:rPr lang="ko-KR" altLang="en-US" sz="1100" dirty="0"/>
              <a:t>먼저 이미지를 처음부터 제공한 경우에도</a:t>
            </a:r>
            <a:br>
              <a:rPr lang="ko-KR" altLang="en-US" sz="1100" dirty="0"/>
            </a:br>
            <a:r>
              <a:rPr lang="ko-KR" altLang="en-US" sz="1100" dirty="0"/>
              <a:t>모든 모델의 정확도는 </a:t>
            </a:r>
            <a:r>
              <a:rPr lang="en-US" altLang="ko-KR" sz="1100" dirty="0"/>
              <a:t>30% </a:t>
            </a:r>
            <a:r>
              <a:rPr lang="ko-KR" altLang="en-US" sz="1100" dirty="0"/>
              <a:t>이하로</a:t>
            </a:r>
            <a:r>
              <a:rPr lang="en-US" altLang="ko-KR" sz="1100" dirty="0"/>
              <a:t>,</a:t>
            </a:r>
            <a:br>
              <a:rPr lang="en-US" altLang="ko-KR" sz="1100" dirty="0"/>
            </a:br>
            <a:r>
              <a:rPr lang="ko-KR" altLang="en-US" sz="1100" dirty="0"/>
              <a:t>실제 임상 케이스 기반 진단이 매우 어렵다는 점을 보여줍니다</a:t>
            </a:r>
            <a:r>
              <a:rPr lang="en-US" altLang="ko-KR" sz="1100" dirty="0"/>
              <a:t>.</a:t>
            </a:r>
          </a:p>
          <a:p>
            <a:r>
              <a:rPr lang="ko-KR" altLang="en-US" sz="1100" dirty="0"/>
              <a:t>반면</a:t>
            </a:r>
            <a:r>
              <a:rPr lang="en-US" altLang="ko-KR" sz="1100" dirty="0"/>
              <a:t>, </a:t>
            </a:r>
            <a:r>
              <a:rPr lang="ko-KR" altLang="en-US" sz="1100" dirty="0"/>
              <a:t>이미지를 의사가 직접 요청해야 하는 설정에서는</a:t>
            </a:r>
            <a:br>
              <a:rPr lang="ko-KR" altLang="en-US" sz="1100" dirty="0"/>
            </a:br>
            <a:r>
              <a:rPr lang="ko-KR" altLang="en-US" sz="1100" dirty="0"/>
              <a:t>모든 모델에서 성능이 더 감소했습니다</a:t>
            </a:r>
            <a:r>
              <a:rPr lang="en-US" altLang="ko-KR" sz="1100" dirty="0"/>
              <a:t>.</a:t>
            </a:r>
            <a:br>
              <a:rPr lang="en-US" altLang="ko-KR" sz="1100" dirty="0"/>
            </a:br>
            <a:r>
              <a:rPr lang="ko-KR" altLang="en-US" sz="1100" dirty="0"/>
              <a:t>이는 단순히 이미지를 보는 것보다</a:t>
            </a:r>
            <a:r>
              <a:rPr lang="en-US" altLang="ko-KR" sz="1100" dirty="0"/>
              <a:t>,</a:t>
            </a:r>
            <a:br>
              <a:rPr lang="en-US" altLang="ko-KR" sz="1100" dirty="0"/>
            </a:br>
            <a:r>
              <a:rPr lang="ko-KR" altLang="en-US" sz="1100" b="1" dirty="0"/>
              <a:t>언제 어떤 검사를 요청할지 결정하는 과정 자체가</a:t>
            </a:r>
            <a:br>
              <a:rPr lang="ko-KR" altLang="en-US" sz="1100" dirty="0"/>
            </a:br>
            <a:r>
              <a:rPr lang="ko-KR" altLang="en-US" sz="1100" dirty="0"/>
              <a:t>모델에게 추가적인 부담이 된다는 의미입니다</a:t>
            </a:r>
            <a:r>
              <a:rPr lang="en-US" altLang="ko-KR" sz="1100" dirty="0"/>
              <a:t>.</a:t>
            </a:r>
          </a:p>
          <a:p>
            <a:r>
              <a:rPr lang="ko-KR" altLang="en-US" sz="1100" dirty="0"/>
              <a:t>오른쪽 표는 이미지 유형별 성능을 보여줍니다</a:t>
            </a:r>
            <a:r>
              <a:rPr lang="en-US" altLang="ko-KR" sz="1100" dirty="0"/>
              <a:t>.</a:t>
            </a:r>
            <a:br>
              <a:rPr lang="en-US" altLang="ko-KR" sz="1100" dirty="0"/>
            </a:br>
            <a:r>
              <a:rPr lang="ko-KR" altLang="en-US" sz="1100" dirty="0"/>
              <a:t>피부과나 조직 검사처럼 시각적 패턴이 비교적 뚜렷한 영역에서는</a:t>
            </a:r>
            <a:br>
              <a:rPr lang="ko-KR" altLang="en-US" sz="1100" dirty="0"/>
            </a:br>
            <a:r>
              <a:rPr lang="ko-KR" altLang="en-US" sz="1100" dirty="0"/>
              <a:t>상대적으로 성능이 높았지만</a:t>
            </a:r>
            <a:r>
              <a:rPr lang="en-US" altLang="ko-KR" sz="1100" dirty="0"/>
              <a:t>,</a:t>
            </a:r>
            <a:br>
              <a:rPr lang="en-US" altLang="ko-KR" sz="1100" dirty="0"/>
            </a:br>
            <a:r>
              <a:rPr lang="en-US" sz="1100" dirty="0"/>
              <a:t>X-ray</a:t>
            </a:r>
            <a:r>
              <a:rPr lang="ko-KR" altLang="en-US" sz="1100" dirty="0"/>
              <a:t>나 </a:t>
            </a:r>
            <a:r>
              <a:rPr lang="en-US" sz="1100" dirty="0"/>
              <a:t>MRI </a:t>
            </a:r>
            <a:r>
              <a:rPr lang="ko-KR" altLang="en-US" sz="1100" dirty="0"/>
              <a:t>같은 영상에서는 여전히 낮은 정확도를 보였습니다</a:t>
            </a:r>
            <a:r>
              <a:rPr lang="en-US" altLang="ko-KR" sz="1100" dirty="0"/>
              <a:t>.</a:t>
            </a:r>
          </a:p>
          <a:p>
            <a:r>
              <a:rPr lang="ko-KR" altLang="en-US" sz="1100" dirty="0"/>
              <a:t>종합하면</a:t>
            </a:r>
            <a:r>
              <a:rPr lang="en-US" altLang="ko-KR" sz="1100" dirty="0"/>
              <a:t>, </a:t>
            </a:r>
            <a:r>
              <a:rPr lang="ko-KR" altLang="en-US" sz="1100" dirty="0"/>
              <a:t>이 결과는</a:t>
            </a:r>
            <a:br>
              <a:rPr lang="ko-KR" altLang="en-US" sz="1100" dirty="0"/>
            </a:br>
            <a:r>
              <a:rPr lang="ko-KR" altLang="en-US" sz="1100" dirty="0"/>
              <a:t>현재의 </a:t>
            </a:r>
            <a:r>
              <a:rPr lang="ko-KR" altLang="en-US" sz="1100" dirty="0" err="1"/>
              <a:t>멀티모달</a:t>
            </a:r>
            <a:r>
              <a:rPr lang="ko-KR" altLang="en-US" sz="1100" dirty="0"/>
              <a:t> </a:t>
            </a:r>
            <a:r>
              <a:rPr lang="en-US" sz="1100" dirty="0"/>
              <a:t>LLM</a:t>
            </a:r>
            <a:r>
              <a:rPr lang="ko-KR" altLang="en-US" sz="1100" dirty="0"/>
              <a:t>이</a:t>
            </a:r>
            <a:br>
              <a:rPr lang="ko-KR" altLang="en-US" sz="1100" dirty="0"/>
            </a:br>
            <a:r>
              <a:rPr lang="ko-KR" altLang="en-US" sz="1100" dirty="0"/>
              <a:t>의료 이미지를 활용한 실제 임상 진단에서는</a:t>
            </a:r>
            <a:br>
              <a:rPr lang="ko-KR" altLang="en-US" sz="1100" dirty="0"/>
            </a:br>
            <a:r>
              <a:rPr lang="ko-KR" altLang="en-US" sz="1100" dirty="0"/>
              <a:t>아직 큰 한계를 가지고 있으며</a:t>
            </a:r>
            <a:r>
              <a:rPr lang="en-US" altLang="ko-KR" sz="1100" dirty="0"/>
              <a:t>,</a:t>
            </a:r>
            <a:br>
              <a:rPr lang="en-US" altLang="ko-KR" sz="1100" dirty="0"/>
            </a:br>
            <a:r>
              <a:rPr lang="ko-KR" altLang="en-US" sz="1100" dirty="0"/>
              <a:t>특히 검사 요청이라는 ‘행동 </a:t>
            </a:r>
            <a:r>
              <a:rPr lang="ko-KR" altLang="en-US" sz="1100" dirty="0" err="1"/>
              <a:t>결정’이</a:t>
            </a:r>
            <a:r>
              <a:rPr lang="ko-KR" altLang="en-US" sz="1100" dirty="0"/>
              <a:t> 중요한 병목임을 </a:t>
            </a:r>
            <a:r>
              <a:rPr lang="ko-KR" altLang="en-US" sz="1100" dirty="0" err="1"/>
              <a:t>알수</a:t>
            </a:r>
            <a:r>
              <a:rPr lang="ko-KR" altLang="en-US" sz="1100" dirty="0"/>
              <a:t> 있습니다</a:t>
            </a:r>
            <a:r>
              <a:rPr lang="en-US" altLang="ko-KR" sz="1100" dirty="0"/>
              <a:t>.</a:t>
            </a:r>
          </a:p>
        </p:txBody>
      </p:sp>
      <p:sp>
        <p:nvSpPr>
          <p:cNvPr id="331" name="Google Shape;331;g3bc896615d4_0_17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9" name="Google Shape;34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ko-KR" altLang="en-US" sz="1400" dirty="0" err="1"/>
              <a:t>이실험</a:t>
            </a:r>
            <a:r>
              <a:rPr lang="ko-KR" altLang="en-US" sz="1400" dirty="0"/>
              <a:t> 결과에서는</a:t>
            </a:r>
            <a:endParaRPr lang="en-US" altLang="ko-KR" sz="1400" dirty="0"/>
          </a:p>
          <a:p>
            <a:r>
              <a:rPr lang="ko-KR" altLang="en-US" sz="1400" dirty="0"/>
              <a:t> </a:t>
            </a:r>
            <a:r>
              <a:rPr lang="en-US" altLang="ko-KR" sz="1400" dirty="0"/>
              <a:t>9</a:t>
            </a:r>
            <a:r>
              <a:rPr lang="ko-KR" altLang="en-US" sz="1400" dirty="0"/>
              <a:t>개 의료 전문과별로 각 모델의 진단 정확도를 비교한 결과입니다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전체적으로 보면</a:t>
            </a:r>
            <a:r>
              <a:rPr lang="en-US" altLang="ko-KR" sz="1400" dirty="0"/>
              <a:t>,</a:t>
            </a:r>
            <a:br>
              <a:rPr lang="en-US" altLang="ko-KR" sz="1400" dirty="0"/>
            </a:br>
            <a:r>
              <a:rPr lang="en-US" sz="1400" b="1" dirty="0"/>
              <a:t>Claude 3.5</a:t>
            </a:r>
            <a:r>
              <a:rPr lang="ko-KR" altLang="en-US" sz="1400" b="1" dirty="0"/>
              <a:t>가 모든 전문과에서 가장 안정적으로 높은 성능</a:t>
            </a:r>
            <a:r>
              <a:rPr lang="ko-KR" altLang="en-US" sz="1400" dirty="0"/>
              <a:t>을 보였습니다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r>
              <a:rPr lang="ko-KR" altLang="en-US" sz="1400" dirty="0"/>
              <a:t>특히 내과</a:t>
            </a:r>
            <a:r>
              <a:rPr lang="en-US" altLang="ko-KR" sz="1400" dirty="0"/>
              <a:t>, </a:t>
            </a:r>
            <a:r>
              <a:rPr lang="ko-KR" altLang="en-US" sz="1400" dirty="0"/>
              <a:t>이비인후과</a:t>
            </a:r>
            <a:r>
              <a:rPr lang="en-US" altLang="ko-KR" sz="1400" dirty="0"/>
              <a:t>, </a:t>
            </a:r>
            <a:r>
              <a:rPr lang="ko-KR" altLang="en-US" sz="1400" dirty="0"/>
              <a:t>산부인과 영역에서는</a:t>
            </a:r>
            <a:br>
              <a:rPr lang="ko-KR" altLang="en-US" sz="1400" dirty="0"/>
            </a:br>
            <a:r>
              <a:rPr lang="en-US" altLang="ko-KR" sz="1400" dirty="0"/>
              <a:t>70% </a:t>
            </a:r>
            <a:r>
              <a:rPr lang="ko-KR" altLang="en-US" sz="1400" dirty="0"/>
              <a:t>이상의 정확도를 기록했습니다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반면</a:t>
            </a:r>
            <a:r>
              <a:rPr lang="en-US" altLang="ko-KR" sz="1400" dirty="0"/>
              <a:t>, </a:t>
            </a:r>
            <a:r>
              <a:rPr lang="ko-KR" altLang="en-US" sz="1400" b="1" dirty="0"/>
              <a:t>정신과와 응급의학과</a:t>
            </a:r>
            <a:r>
              <a:rPr lang="ko-KR" altLang="en-US" sz="1400" dirty="0"/>
              <a:t>에서는</a:t>
            </a:r>
            <a:br>
              <a:rPr lang="ko-KR" altLang="en-US" sz="1400" dirty="0"/>
            </a:br>
            <a:r>
              <a:rPr lang="ko-KR" altLang="en-US" sz="1400" dirty="0"/>
              <a:t>모든 모델에서 성능이 상대적으로 낮았습니다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r>
              <a:rPr lang="ko-KR" altLang="en-US" sz="1400" dirty="0"/>
              <a:t>이는 이들 분야가 증상이 주관적이고</a:t>
            </a:r>
            <a:r>
              <a:rPr lang="en-US" altLang="ko-KR" sz="1400" dirty="0"/>
              <a:t>,</a:t>
            </a:r>
            <a:br>
              <a:rPr lang="en-US" altLang="ko-KR" sz="1400" dirty="0"/>
            </a:br>
            <a:r>
              <a:rPr lang="ko-KR" altLang="en-US" sz="1400" dirty="0"/>
              <a:t>환자와의 대화와 맥락 해석이 더 중요하기 때문으로 해석할 수 있습니다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모델별로 보면</a:t>
            </a:r>
            <a:r>
              <a:rPr lang="en-US" altLang="ko-KR" sz="1400" dirty="0"/>
              <a:t>,</a:t>
            </a:r>
            <a:br>
              <a:rPr lang="en-US" altLang="ko-KR" sz="1400" dirty="0"/>
            </a:br>
            <a:r>
              <a:rPr lang="en-US" sz="1400" dirty="0"/>
              <a:t>GPT-4</a:t>
            </a:r>
            <a:r>
              <a:rPr lang="ko-KR" altLang="en-US" sz="1400" dirty="0"/>
              <a:t>는 일부 과에서는 </a:t>
            </a:r>
            <a:r>
              <a:rPr lang="en-US" sz="1400" dirty="0"/>
              <a:t>Claude 3.5</a:t>
            </a:r>
            <a:r>
              <a:rPr lang="ko-KR" altLang="en-US" sz="1400" dirty="0"/>
              <a:t>와 유사한 성능을 보였지만</a:t>
            </a:r>
            <a:r>
              <a:rPr lang="en-US" altLang="ko-KR" sz="1400" dirty="0"/>
              <a:t>,</a:t>
            </a:r>
            <a:br>
              <a:rPr lang="en-US" altLang="ko-KR" sz="1400" dirty="0"/>
            </a:br>
            <a:r>
              <a:rPr lang="ko-KR" altLang="en-US" sz="1400" dirty="0"/>
              <a:t>전반적으로는 일관성이 떨어졌습니다</a:t>
            </a:r>
            <a:r>
              <a:rPr lang="en-US" altLang="ko-KR" sz="1400" dirty="0"/>
              <a:t>.</a:t>
            </a:r>
          </a:p>
          <a:p>
            <a:r>
              <a:rPr lang="en-US" sz="1400" dirty="0"/>
              <a:t>Llama3-70B</a:t>
            </a:r>
            <a:r>
              <a:rPr lang="ko-KR" altLang="en-US" sz="1400" dirty="0"/>
              <a:t>나 </a:t>
            </a:r>
            <a:r>
              <a:rPr lang="en-US" sz="1400" dirty="0"/>
              <a:t>GPT-4o-mini </a:t>
            </a:r>
            <a:r>
              <a:rPr lang="ko-KR" altLang="en-US" sz="1400" dirty="0"/>
              <a:t>같은 모델들은</a:t>
            </a:r>
            <a:br>
              <a:rPr lang="ko-KR" altLang="en-US" sz="1400" dirty="0"/>
            </a:br>
            <a:r>
              <a:rPr lang="ko-KR" altLang="en-US" sz="1400" dirty="0"/>
              <a:t>대부분의 전문과에서 낮은 정확도를 보여</a:t>
            </a:r>
            <a:r>
              <a:rPr lang="en-US" altLang="ko-KR" sz="1400" dirty="0"/>
              <a:t>,</a:t>
            </a:r>
            <a:br>
              <a:rPr lang="en-US" altLang="ko-KR" sz="1400" dirty="0"/>
            </a:br>
            <a:r>
              <a:rPr lang="ko-KR" altLang="en-US" sz="1400" dirty="0"/>
              <a:t>전문과별 임상 추론에는 아직 한계가 있음을 보여줍니다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종합하면</a:t>
            </a:r>
            <a:r>
              <a:rPr lang="en-US" altLang="ko-KR" sz="1400" dirty="0"/>
              <a:t>,</a:t>
            </a:r>
            <a:br>
              <a:rPr lang="en-US" altLang="ko-KR" sz="1400" dirty="0"/>
            </a:br>
            <a:r>
              <a:rPr lang="ko-KR" altLang="en-US" sz="1400" dirty="0"/>
              <a:t>의료 </a:t>
            </a:r>
            <a:r>
              <a:rPr lang="en-US" sz="1400" dirty="0"/>
              <a:t>AI</a:t>
            </a:r>
            <a:r>
              <a:rPr lang="ko-KR" altLang="en-US" sz="1400" dirty="0"/>
              <a:t>의 성능은 평균값보다</a:t>
            </a:r>
            <a:br>
              <a:rPr lang="ko-KR" altLang="en-US" sz="1400" dirty="0"/>
            </a:br>
            <a:r>
              <a:rPr lang="ko-KR" altLang="en-US" sz="1400" b="1" dirty="0"/>
              <a:t>어느 전문과에서 </a:t>
            </a:r>
            <a:r>
              <a:rPr lang="ko-KR" altLang="en-US" sz="1400" b="1" dirty="0" err="1"/>
              <a:t>사용되는가가</a:t>
            </a:r>
            <a:r>
              <a:rPr lang="ko-KR" altLang="en-US" sz="1400" b="1" dirty="0"/>
              <a:t> 더 중요하며</a:t>
            </a:r>
            <a:r>
              <a:rPr lang="en-US" altLang="ko-KR" sz="1400" dirty="0"/>
              <a:t>,</a:t>
            </a:r>
            <a:br>
              <a:rPr lang="en-US" altLang="ko-KR" sz="1400" dirty="0"/>
            </a:br>
            <a:r>
              <a:rPr lang="ko-KR" altLang="en-US" sz="1400" dirty="0"/>
              <a:t>전문과별 평가가 반드시 필요하다는 점을 나타냈습니다</a:t>
            </a:r>
            <a:r>
              <a:rPr lang="en-US" altLang="ko-KR" sz="1400" dirty="0"/>
              <a:t>.</a:t>
            </a:r>
          </a:p>
        </p:txBody>
      </p:sp>
      <p:sp>
        <p:nvSpPr>
          <p:cNvPr id="350" name="Google Shape;350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bc896615d4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4" name="Google Shape;364;g3bc896615d4_0_2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ko-KR" sz="1100" dirty="0"/>
              <a:t>7</a:t>
            </a:r>
            <a:r>
              <a:rPr lang="ko-KR" altLang="en-US" sz="1100" dirty="0"/>
              <a:t>개 언어 환경에서</a:t>
            </a:r>
            <a:br>
              <a:rPr lang="ko-KR" altLang="en-US" sz="1100" dirty="0"/>
            </a:br>
            <a:r>
              <a:rPr lang="ko-KR" altLang="en-US" sz="1100" dirty="0"/>
              <a:t>각 모델의 진단 정확도를 비교한 결과입니다</a:t>
            </a:r>
            <a:r>
              <a:rPr lang="en-US" altLang="ko-KR" sz="1100" dirty="0"/>
              <a:t>.</a:t>
            </a:r>
          </a:p>
          <a:p>
            <a:r>
              <a:rPr lang="ko-KR" altLang="en-US" sz="1100" dirty="0"/>
              <a:t>전체적으로 보면</a:t>
            </a:r>
            <a:r>
              <a:rPr lang="en-US" altLang="ko-KR" sz="1100" dirty="0"/>
              <a:t>,</a:t>
            </a:r>
            <a:br>
              <a:rPr lang="en-US" altLang="ko-KR" sz="1100" dirty="0"/>
            </a:br>
            <a:r>
              <a:rPr lang="ko-KR" altLang="en-US" sz="1100" dirty="0"/>
              <a:t>모든 모델에서 </a:t>
            </a:r>
            <a:r>
              <a:rPr lang="ko-KR" altLang="en-US" sz="1100" b="1" dirty="0"/>
              <a:t>영어 대비 다른 언어에서 성능이 크게 감소</a:t>
            </a:r>
            <a:r>
              <a:rPr lang="ko-KR" altLang="en-US" sz="1100" dirty="0"/>
              <a:t>하는 경향을 보였습니다</a:t>
            </a:r>
            <a:r>
              <a:rPr lang="en-US" altLang="ko-KR" sz="1100" dirty="0"/>
              <a:t>.</a:t>
            </a:r>
          </a:p>
          <a:p>
            <a:r>
              <a:rPr lang="ko-KR" altLang="en-US" sz="1100" dirty="0"/>
              <a:t>특히 </a:t>
            </a:r>
            <a:r>
              <a:rPr lang="en-US" sz="1100" b="1" dirty="0"/>
              <a:t>Claude 3.5</a:t>
            </a:r>
            <a:r>
              <a:rPr lang="ko-KR" altLang="en-US" sz="1100" b="1" dirty="0"/>
              <a:t>는 모든 언어에서 가장 높은 성능</a:t>
            </a:r>
            <a:r>
              <a:rPr lang="ko-KR" altLang="en-US" sz="1100" dirty="0"/>
              <a:t>을 유지했지만</a:t>
            </a:r>
            <a:r>
              <a:rPr lang="en-US" altLang="ko-KR" sz="1100" dirty="0"/>
              <a:t>,</a:t>
            </a:r>
            <a:br>
              <a:rPr lang="en-US" altLang="ko-KR" sz="1100" dirty="0"/>
            </a:br>
            <a:r>
              <a:rPr lang="ko-KR" altLang="en-US" sz="1100" dirty="0"/>
              <a:t>영어에서는 약 </a:t>
            </a:r>
            <a:r>
              <a:rPr lang="en-US" altLang="ko-KR" sz="1100" dirty="0"/>
              <a:t>53%</a:t>
            </a:r>
            <a:r>
              <a:rPr lang="ko-KR" altLang="en-US" sz="1100" dirty="0"/>
              <a:t>였던 정확도가</a:t>
            </a:r>
            <a:br>
              <a:rPr lang="ko-KR" altLang="en-US" sz="1100" dirty="0"/>
            </a:br>
            <a:r>
              <a:rPr lang="ko-KR" altLang="en-US" sz="1100" dirty="0"/>
              <a:t>힌디어</a:t>
            </a:r>
            <a:r>
              <a:rPr lang="en-US" altLang="ko-KR" sz="1100" dirty="0"/>
              <a:t>, </a:t>
            </a:r>
            <a:r>
              <a:rPr lang="ko-KR" altLang="en-US" sz="1100" dirty="0"/>
              <a:t>프랑스어</a:t>
            </a:r>
            <a:r>
              <a:rPr lang="en-US" altLang="ko-KR" sz="1100" dirty="0"/>
              <a:t>, </a:t>
            </a:r>
            <a:r>
              <a:rPr lang="ko-KR" altLang="en-US" sz="1100" dirty="0"/>
              <a:t>한국어</a:t>
            </a:r>
            <a:r>
              <a:rPr lang="en-US" altLang="ko-KR" sz="1100" dirty="0"/>
              <a:t>, </a:t>
            </a:r>
            <a:r>
              <a:rPr lang="ko-KR" altLang="en-US" sz="1100" dirty="0"/>
              <a:t>페르시아어 등에서는</a:t>
            </a:r>
            <a:br>
              <a:rPr lang="ko-KR" altLang="en-US" sz="1100" dirty="0"/>
            </a:br>
            <a:r>
              <a:rPr lang="en-US" altLang="ko-KR" sz="1100" dirty="0"/>
              <a:t>40%</a:t>
            </a:r>
            <a:r>
              <a:rPr lang="ko-KR" altLang="en-US" sz="1100" dirty="0"/>
              <a:t>대 이하로 떨어졌습니다</a:t>
            </a:r>
            <a:r>
              <a:rPr lang="en-US" altLang="ko-KR" sz="1100" dirty="0"/>
              <a:t>.</a:t>
            </a:r>
          </a:p>
          <a:p>
            <a:r>
              <a:rPr lang="en-US" sz="1100" dirty="0"/>
              <a:t>GPT-4</a:t>
            </a:r>
            <a:r>
              <a:rPr lang="ko-KR" altLang="en-US" sz="1100" dirty="0"/>
              <a:t>와 </a:t>
            </a:r>
            <a:r>
              <a:rPr lang="en-US" sz="1100" dirty="0"/>
              <a:t>GPT-4o </a:t>
            </a:r>
            <a:r>
              <a:rPr lang="ko-KR" altLang="en-US" sz="1100" dirty="0"/>
              <a:t>역시</a:t>
            </a:r>
            <a:br>
              <a:rPr lang="ko-KR" altLang="en-US" sz="1100" dirty="0"/>
            </a:br>
            <a:r>
              <a:rPr lang="ko-KR" altLang="en-US" sz="1100" dirty="0"/>
              <a:t>영어에서는 비교적 안정적인 성능을 보였지만</a:t>
            </a:r>
            <a:r>
              <a:rPr lang="en-US" altLang="ko-KR" sz="1100" dirty="0"/>
              <a:t>,</a:t>
            </a:r>
            <a:br>
              <a:rPr lang="en-US" altLang="ko-KR" sz="1100" dirty="0"/>
            </a:br>
            <a:r>
              <a:rPr lang="ko-KR" altLang="en-US" sz="1100" dirty="0"/>
              <a:t>비영어권 언어에서는</a:t>
            </a:r>
            <a:br>
              <a:rPr lang="ko-KR" altLang="en-US" sz="1100" dirty="0"/>
            </a:br>
            <a:r>
              <a:rPr lang="ko-KR" altLang="en-US" sz="1100" dirty="0"/>
              <a:t>정확도가 절반 수준 이하로 감소했습니다</a:t>
            </a:r>
            <a:r>
              <a:rPr lang="en-US" altLang="ko-KR" sz="1100" dirty="0"/>
              <a:t>.</a:t>
            </a:r>
          </a:p>
          <a:p>
            <a:r>
              <a:rPr lang="en-US" sz="1100" dirty="0"/>
              <a:t>Llama3-70B</a:t>
            </a:r>
            <a:r>
              <a:rPr lang="ko-KR" altLang="en-US" sz="1100" dirty="0"/>
              <a:t>와 </a:t>
            </a:r>
            <a:r>
              <a:rPr lang="en-US" sz="1100" dirty="0"/>
              <a:t>GPT-4o-mini</a:t>
            </a:r>
            <a:r>
              <a:rPr lang="ko-KR" altLang="en-US" sz="1100" dirty="0"/>
              <a:t>는</a:t>
            </a:r>
            <a:br>
              <a:rPr lang="ko-KR" altLang="en-US" sz="1100" dirty="0"/>
            </a:br>
            <a:r>
              <a:rPr lang="ko-KR" altLang="en-US" sz="1100" dirty="0"/>
              <a:t>대부분의 언어에서 매우 낮은 성능을 보였으며</a:t>
            </a:r>
            <a:r>
              <a:rPr lang="en-US" altLang="ko-KR" sz="1100" dirty="0"/>
              <a:t>,</a:t>
            </a:r>
            <a:br>
              <a:rPr lang="en-US" altLang="ko-KR" sz="1100" dirty="0"/>
            </a:br>
            <a:r>
              <a:rPr lang="ko-KR" altLang="en-US" sz="1100" dirty="0"/>
              <a:t>일부 언어에서는 거의 진단이 불가능한 수준이었습니다</a:t>
            </a:r>
            <a:r>
              <a:rPr lang="en-US" altLang="ko-KR" sz="1100" dirty="0"/>
              <a:t>.</a:t>
            </a:r>
          </a:p>
          <a:p>
            <a:r>
              <a:rPr lang="ko-KR" altLang="en-US" sz="1100" dirty="0"/>
              <a:t>이 결과는 다국어 환경에서의 성능 저하가</a:t>
            </a:r>
            <a:br>
              <a:rPr lang="ko-KR" altLang="en-US" sz="1100" dirty="0"/>
            </a:br>
            <a:r>
              <a:rPr lang="ko-KR" altLang="en-US" sz="1100" dirty="0"/>
              <a:t>단순 번역 문제가 아니라</a:t>
            </a:r>
            <a:r>
              <a:rPr lang="en-US" altLang="ko-KR" sz="1100" dirty="0"/>
              <a:t>,</a:t>
            </a:r>
            <a:br>
              <a:rPr lang="en-US" altLang="ko-KR" sz="1100" dirty="0"/>
            </a:br>
            <a:r>
              <a:rPr lang="ko-KR" altLang="en-US" sz="1100" b="1" dirty="0"/>
              <a:t>임상 추론 정책 자체가 언어와 문화적 표현에 취약함</a:t>
            </a:r>
            <a:r>
              <a:rPr lang="ko-KR" altLang="en-US" sz="1100" dirty="0"/>
              <a:t>을 보여줍니다</a:t>
            </a:r>
            <a:r>
              <a:rPr lang="en-US" altLang="ko-KR" sz="1100" dirty="0"/>
              <a:t>.</a:t>
            </a:r>
          </a:p>
          <a:p>
            <a:r>
              <a:rPr lang="ko-KR" altLang="en-US" sz="1100" dirty="0"/>
              <a:t>즉</a:t>
            </a:r>
            <a:r>
              <a:rPr lang="en-US" altLang="ko-KR" sz="1100" dirty="0"/>
              <a:t>, </a:t>
            </a:r>
            <a:r>
              <a:rPr lang="ko-KR" altLang="en-US" sz="1100" dirty="0"/>
              <a:t>의료 </a:t>
            </a:r>
            <a:r>
              <a:rPr lang="en-US" sz="1100" dirty="0"/>
              <a:t>AI</a:t>
            </a:r>
            <a:r>
              <a:rPr lang="ko-KR" altLang="en-US" sz="1100" dirty="0"/>
              <a:t>의 실제 글로벌 적용을 위해서는</a:t>
            </a:r>
            <a:br>
              <a:rPr lang="ko-KR" altLang="en-US" sz="1100" dirty="0"/>
            </a:br>
            <a:r>
              <a:rPr lang="ko-KR" altLang="en-US" sz="1100" dirty="0"/>
              <a:t>다국어 임상 상호작용 환경에 대한 별도의 평가와 개선이 필요합니다</a:t>
            </a:r>
            <a:r>
              <a:rPr lang="en-US" altLang="ko-KR" sz="1100" dirty="0"/>
              <a:t>.</a:t>
            </a:r>
          </a:p>
        </p:txBody>
      </p:sp>
      <p:sp>
        <p:nvSpPr>
          <p:cNvPr id="365" name="Google Shape;365;g3bc896615d4_0_20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bc896615d4_0_4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9" name="Google Shape;379;g3bc896615d4_0_4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ko-KR" altLang="en-US" dirty="0"/>
              <a:t>이 논문은 기존의 </a:t>
            </a:r>
            <a:r>
              <a:rPr lang="en-US" dirty="0" err="1"/>
              <a:t>MedQA</a:t>
            </a:r>
            <a:r>
              <a:rPr lang="ko-KR" altLang="en-US" dirty="0" err="1"/>
              <a:t>처럼</a:t>
            </a:r>
            <a:br>
              <a:rPr lang="ko-KR" altLang="en-US" dirty="0"/>
            </a:br>
            <a:r>
              <a:rPr lang="ko-KR" altLang="en-US" dirty="0"/>
              <a:t>정적인 문제를 푸는 방식이 아니라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실제 임상 환경과 유사한</a:t>
            </a:r>
            <a:br>
              <a:rPr lang="ko-KR" altLang="en-US" dirty="0"/>
            </a:br>
            <a:r>
              <a:rPr lang="ko-KR" altLang="en-US" b="1" dirty="0"/>
              <a:t>상호작용 기반 벤치마크인 </a:t>
            </a:r>
            <a:r>
              <a:rPr lang="en-US" b="1" dirty="0" err="1"/>
              <a:t>AgentClinic</a:t>
            </a:r>
            <a:r>
              <a:rPr lang="ko-KR" altLang="en-US" b="1" dirty="0"/>
              <a:t>을 제안합니다</a:t>
            </a:r>
            <a:r>
              <a:rPr lang="en-US" altLang="ko-KR" b="1" dirty="0"/>
              <a:t>.</a:t>
            </a:r>
            <a:endParaRPr lang="ko-KR" altLang="en-US" dirty="0"/>
          </a:p>
          <a:p>
            <a:r>
              <a:rPr lang="ko-KR" altLang="en-US" dirty="0"/>
              <a:t>실험 결과를 통해 알 수 있었던 점은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진단 성능이 단순히 모델의 지식 수준이 아니라</a:t>
            </a:r>
            <a:br>
              <a:rPr lang="ko-KR" altLang="en-US" dirty="0"/>
            </a:br>
            <a:r>
              <a:rPr lang="ko-KR" altLang="en-US" b="1" dirty="0"/>
              <a:t>질문 전략</a:t>
            </a:r>
            <a:r>
              <a:rPr lang="en-US" altLang="ko-KR" b="1" dirty="0"/>
              <a:t>, </a:t>
            </a:r>
            <a:r>
              <a:rPr lang="ko-KR" altLang="en-US" b="1" dirty="0"/>
              <a:t>도구 사용 방식</a:t>
            </a:r>
            <a:r>
              <a:rPr lang="en-US" altLang="ko-KR" b="1" dirty="0"/>
              <a:t>, </a:t>
            </a:r>
            <a:r>
              <a:rPr lang="ko-KR" altLang="en-US" b="1" dirty="0"/>
              <a:t>그리고 환자 에이전트의 응답 품질</a:t>
            </a:r>
            <a:r>
              <a:rPr lang="ko-KR" altLang="en-US" dirty="0"/>
              <a:t>에</a:t>
            </a:r>
            <a:br>
              <a:rPr lang="ko-KR" altLang="en-US" dirty="0"/>
            </a:br>
            <a:r>
              <a:rPr lang="ko-KR" altLang="en-US" dirty="0"/>
              <a:t>크게 의존한다는 것입니다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또한 기존 </a:t>
            </a:r>
            <a:r>
              <a:rPr lang="en-US" dirty="0" err="1"/>
              <a:t>MedQA</a:t>
            </a:r>
            <a:r>
              <a:rPr lang="ko-KR" altLang="en-US" dirty="0"/>
              <a:t>에서 높은 점수를 받은 모델이</a:t>
            </a:r>
            <a:br>
              <a:rPr lang="ko-KR" altLang="en-US" dirty="0"/>
            </a:br>
            <a:r>
              <a:rPr lang="en-US" dirty="0" err="1"/>
              <a:t>AgentClinic</a:t>
            </a:r>
            <a:r>
              <a:rPr lang="en-US" dirty="0"/>
              <a:t> </a:t>
            </a:r>
            <a:r>
              <a:rPr lang="ko-KR" altLang="en-US" dirty="0"/>
              <a:t>환경에서도 반드시 좋은 성능을 보이지는 않았습니다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이는 시험 성능과 실제 임상 추론 능력 사이에</a:t>
            </a:r>
            <a:br>
              <a:rPr lang="ko-KR" altLang="en-US" dirty="0"/>
            </a:br>
            <a:r>
              <a:rPr lang="ko-KR" altLang="en-US" dirty="0"/>
              <a:t>뚜렷한 차이가 존재함을 보여줍니다</a:t>
            </a:r>
            <a:r>
              <a:rPr lang="en-US" altLang="ko-KR" dirty="0"/>
              <a:t>.</a:t>
            </a:r>
          </a:p>
          <a:p>
            <a:r>
              <a:rPr lang="en-US" dirty="0"/>
              <a:t>Tool </a:t>
            </a:r>
            <a:r>
              <a:rPr lang="ko-KR" altLang="en-US" dirty="0"/>
              <a:t>사용</a:t>
            </a:r>
            <a:r>
              <a:rPr lang="en-US" altLang="ko-KR" dirty="0"/>
              <a:t>, </a:t>
            </a:r>
            <a:r>
              <a:rPr lang="en-US" dirty="0"/>
              <a:t>interaction </a:t>
            </a:r>
            <a:r>
              <a:rPr lang="ko-KR" altLang="en-US" dirty="0"/>
              <a:t>횟수 제한</a:t>
            </a:r>
            <a:r>
              <a:rPr lang="en-US" altLang="ko-KR" dirty="0"/>
              <a:t>, </a:t>
            </a:r>
            <a:r>
              <a:rPr lang="ko-KR" altLang="en-US" dirty="0"/>
              <a:t>그리고 </a:t>
            </a:r>
            <a:r>
              <a:rPr lang="en-US" dirty="0"/>
              <a:t>bias </a:t>
            </a:r>
            <a:r>
              <a:rPr lang="ko-KR" altLang="en-US" dirty="0"/>
              <a:t>실험을 통해</a:t>
            </a:r>
            <a:br>
              <a:rPr lang="ko-KR" altLang="en-US" dirty="0"/>
            </a:br>
            <a:r>
              <a:rPr lang="en-US" dirty="0"/>
              <a:t>LLM</a:t>
            </a:r>
            <a:r>
              <a:rPr lang="ko-KR" altLang="en-US" dirty="0"/>
              <a:t>이 언제 취약해지는지도 구체적으로 드러났습니다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특히 언제 어떤 검사를 요청할지 결정하는 정책이</a:t>
            </a:r>
            <a:br>
              <a:rPr lang="ko-KR" altLang="en-US" dirty="0"/>
            </a:br>
            <a:r>
              <a:rPr lang="ko-KR" altLang="en-US" dirty="0"/>
              <a:t>중요한 병목으로 작용했습니다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종합하면</a:t>
            </a:r>
            <a:r>
              <a:rPr lang="en-US" altLang="ko-KR" dirty="0"/>
              <a:t>, </a:t>
            </a:r>
            <a:r>
              <a:rPr lang="en-US" dirty="0" err="1"/>
              <a:t>AgentClinic</a:t>
            </a:r>
            <a:r>
              <a:rPr lang="ko-KR" altLang="en-US" dirty="0"/>
              <a:t>은</a:t>
            </a:r>
            <a:br>
              <a:rPr lang="ko-KR" altLang="en-US" dirty="0"/>
            </a:br>
            <a:r>
              <a:rPr lang="ko-KR" altLang="en-US" dirty="0"/>
              <a:t>의료 </a:t>
            </a:r>
            <a:r>
              <a:rPr lang="en-US" dirty="0"/>
              <a:t>AI</a:t>
            </a:r>
            <a:r>
              <a:rPr lang="ko-KR" altLang="en-US" dirty="0"/>
              <a:t>의 실제 임상 적용 가능성을 평가하기 위해</a:t>
            </a:r>
            <a:endParaRPr lang="en-US" altLang="ko-KR" dirty="0"/>
          </a:p>
          <a:p>
            <a:br>
              <a:rPr lang="ko-KR" altLang="en-US" dirty="0"/>
            </a:br>
            <a:r>
              <a:rPr lang="ko-KR" altLang="en-US" dirty="0"/>
              <a:t>보다 현실적인 기준선을 제공하는 벤치마크라고 볼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이상으로 </a:t>
            </a:r>
            <a:r>
              <a:rPr lang="en-US" dirty="0" err="1"/>
              <a:t>AgentClinic</a:t>
            </a:r>
            <a:r>
              <a:rPr lang="en-US" dirty="0"/>
              <a:t> </a:t>
            </a:r>
            <a:r>
              <a:rPr lang="ko-KR" altLang="en-US" dirty="0"/>
              <a:t>논문 리뷰를 마치겠습니다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감사합니다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380" name="Google Shape;380;g3bc896615d4_0_48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19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1">
  <p:cSld name="제목 슬라이드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>
            <a:spLocks noGrp="1"/>
          </p:cNvSpPr>
          <p:nvPr>
            <p:ph type="ctrTitle"/>
          </p:nvPr>
        </p:nvSpPr>
        <p:spPr>
          <a:xfrm>
            <a:off x="625642" y="472658"/>
            <a:ext cx="8117305" cy="3369426"/>
          </a:xfrm>
          <a:prstGeom prst="rect">
            <a:avLst/>
          </a:prstGeom>
          <a:solidFill>
            <a:srgbClr val="2E75B5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Font typeface="Arial"/>
              <a:buNone/>
              <a:defRPr sz="6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transition advTm="16380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transition advTm="16380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6" name="Google Shape;26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transition advTm="16380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transition advTm="16380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transition advTm="16380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3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transition advTm="16380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3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3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3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transition advTm="16380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transition advTm="16380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3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transition advTm="16380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3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3" name="Google Shape;73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transition advTm="16380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transition advTm="16380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transition advTm="16380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advTm="16380">
    <p:wipe dir="r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.png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.png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.png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.png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5.xml"/><Relationship Id="rId9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.png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.png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10" Type="http://schemas.openxmlformats.org/officeDocument/2006/relationships/image" Target="../media/image4.png"/><Relationship Id="rId4" Type="http://schemas.openxmlformats.org/officeDocument/2006/relationships/notesSlide" Target="../notesSlides/notesSlide7.xml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.png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.png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10" Type="http://schemas.openxmlformats.org/officeDocument/2006/relationships/image" Target="../media/image4.png"/><Relationship Id="rId4" Type="http://schemas.openxmlformats.org/officeDocument/2006/relationships/notesSlide" Target="../notesSlides/notesSlide9.xml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.png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0.xml"/><Relationship Id="rId9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.png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10" Type="http://schemas.openxmlformats.org/officeDocument/2006/relationships/image" Target="../media/image4.png"/><Relationship Id="rId4" Type="http://schemas.openxmlformats.org/officeDocument/2006/relationships/notesSlide" Target="../notesSlides/notesSlide11.xml"/><Relationship Id="rId9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.png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.png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.png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.png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.png"/><Relationship Id="rId2" Type="http://schemas.openxmlformats.org/officeDocument/2006/relationships/audio" Target="../media/media16.m4a"/><Relationship Id="rId1" Type="http://schemas.microsoft.com/office/2007/relationships/media" Target="../media/media16.m4a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6.xml"/><Relationship Id="rId9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.png"/><Relationship Id="rId2" Type="http://schemas.openxmlformats.org/officeDocument/2006/relationships/audio" Target="../media/media17.m4a"/><Relationship Id="rId1" Type="http://schemas.microsoft.com/office/2007/relationships/media" Target="../media/media17.m4a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10" Type="http://schemas.openxmlformats.org/officeDocument/2006/relationships/image" Target="../media/image4.png"/><Relationship Id="rId4" Type="http://schemas.openxmlformats.org/officeDocument/2006/relationships/notesSlide" Target="../notesSlides/notesSlide17.xml"/><Relationship Id="rId9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.png"/><Relationship Id="rId2" Type="http://schemas.openxmlformats.org/officeDocument/2006/relationships/audio" Target="../media/media18.m4a"/><Relationship Id="rId1" Type="http://schemas.microsoft.com/office/2007/relationships/media" Target="../media/media18.m4a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10" Type="http://schemas.openxmlformats.org/officeDocument/2006/relationships/image" Target="../media/image4.png"/><Relationship Id="rId4" Type="http://schemas.openxmlformats.org/officeDocument/2006/relationships/notesSlide" Target="../notesSlides/notesSlide18.xml"/><Relationship Id="rId9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.png"/><Relationship Id="rId2" Type="http://schemas.openxmlformats.org/officeDocument/2006/relationships/audio" Target="../media/media19.m4a"/><Relationship Id="rId1" Type="http://schemas.microsoft.com/office/2007/relationships/media" Target="../media/media19.m4a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>
            <a:spLocks noGrp="1"/>
          </p:cNvSpPr>
          <p:nvPr>
            <p:ph type="ctrTitle"/>
          </p:nvPr>
        </p:nvSpPr>
        <p:spPr>
          <a:xfrm>
            <a:off x="625650" y="472650"/>
            <a:ext cx="9493800" cy="3369300"/>
          </a:xfrm>
          <a:prstGeom prst="rect">
            <a:avLst/>
          </a:prstGeom>
          <a:solidFill>
            <a:srgbClr val="509D9C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0" tIns="180000" rIns="180000" bIns="1800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ko-KR" sz="2800" dirty="0" err="1"/>
              <a:t>AgentClinic</a:t>
            </a:r>
            <a:r>
              <a:rPr lang="ko-KR" sz="2800" dirty="0"/>
              <a:t>: </a:t>
            </a:r>
            <a:r>
              <a:rPr lang="ko-KR" sz="2800" dirty="0" err="1"/>
              <a:t>a</a:t>
            </a:r>
            <a:r>
              <a:rPr lang="ko-KR" sz="2800" dirty="0"/>
              <a:t> </a:t>
            </a:r>
            <a:r>
              <a:rPr lang="ko-KR" sz="2800" dirty="0" err="1"/>
              <a:t>multimodal</a:t>
            </a:r>
            <a:r>
              <a:rPr lang="ko-KR" sz="2800" dirty="0"/>
              <a:t> </a:t>
            </a:r>
            <a:r>
              <a:rPr lang="ko-KR" sz="2800" dirty="0" err="1"/>
              <a:t>agent</a:t>
            </a:r>
            <a:r>
              <a:rPr lang="ko-KR" sz="2800" dirty="0"/>
              <a:t> </a:t>
            </a:r>
            <a:r>
              <a:rPr lang="ko-KR" sz="2800" dirty="0" err="1"/>
              <a:t>benchmark</a:t>
            </a:r>
            <a:r>
              <a:rPr lang="ko-KR" sz="2800" dirty="0"/>
              <a:t> </a:t>
            </a:r>
            <a:r>
              <a:rPr lang="ko-KR" sz="2800" dirty="0" err="1"/>
              <a:t>to</a:t>
            </a:r>
            <a:r>
              <a:rPr lang="ko-KR" sz="2800" dirty="0"/>
              <a:t> </a:t>
            </a:r>
            <a:r>
              <a:rPr lang="ko-KR" sz="2800" dirty="0" err="1"/>
              <a:t>evaluate</a:t>
            </a:r>
            <a:r>
              <a:rPr lang="ko-KR" sz="2800" dirty="0"/>
              <a:t> AI </a:t>
            </a:r>
            <a:r>
              <a:rPr lang="ko-KR" sz="2800" dirty="0" err="1"/>
              <a:t>in</a:t>
            </a:r>
            <a:r>
              <a:rPr lang="ko-KR" sz="2800" dirty="0"/>
              <a:t> </a:t>
            </a:r>
            <a:r>
              <a:rPr lang="ko-KR" sz="2800" dirty="0" err="1"/>
              <a:t>simulated</a:t>
            </a:r>
            <a:r>
              <a:rPr lang="ko-KR" sz="2800" dirty="0"/>
              <a:t> </a:t>
            </a:r>
            <a:r>
              <a:rPr lang="ko-KR" sz="2800" dirty="0" err="1"/>
              <a:t>clinical</a:t>
            </a:r>
            <a:r>
              <a:rPr lang="ko-KR" sz="2800" dirty="0"/>
              <a:t> </a:t>
            </a:r>
            <a:r>
              <a:rPr lang="ko-KR" sz="2800" dirty="0" err="1"/>
              <a:t>environments</a:t>
            </a:r>
            <a:br>
              <a:rPr lang="ko-KR" sz="1800" dirty="0"/>
            </a:br>
            <a:r>
              <a:rPr lang="ko-KR" sz="1800" dirty="0" err="1"/>
              <a:t>Samuel</a:t>
            </a:r>
            <a:r>
              <a:rPr lang="ko-KR" sz="1800" dirty="0"/>
              <a:t> </a:t>
            </a:r>
            <a:r>
              <a:rPr lang="ko-KR" sz="1800" dirty="0" err="1"/>
              <a:t>Schmidgall</a:t>
            </a:r>
            <a:r>
              <a:rPr lang="ko-KR" sz="1800" dirty="0"/>
              <a:t>, </a:t>
            </a:r>
            <a:r>
              <a:rPr lang="ko-KR" sz="1800" dirty="0" err="1"/>
              <a:t>Rojin</a:t>
            </a:r>
            <a:r>
              <a:rPr lang="ko-KR" sz="1800" dirty="0"/>
              <a:t> </a:t>
            </a:r>
            <a:r>
              <a:rPr lang="ko-KR" sz="1800" dirty="0" err="1"/>
              <a:t>Ziaei</a:t>
            </a:r>
            <a:r>
              <a:rPr lang="ko-KR" sz="1800" dirty="0"/>
              <a:t>, </a:t>
            </a:r>
            <a:r>
              <a:rPr lang="ko-KR" sz="1800" dirty="0" err="1"/>
              <a:t>Carl</a:t>
            </a:r>
            <a:r>
              <a:rPr lang="ko-KR" sz="1800" dirty="0"/>
              <a:t> Harris, </a:t>
            </a:r>
            <a:r>
              <a:rPr lang="ko-KR" sz="1800" dirty="0" err="1"/>
              <a:t>Eduardo</a:t>
            </a:r>
            <a:r>
              <a:rPr lang="ko-KR" sz="1800" dirty="0"/>
              <a:t> </a:t>
            </a:r>
            <a:r>
              <a:rPr lang="ko-KR" sz="1800" dirty="0" err="1"/>
              <a:t>Reis</a:t>
            </a:r>
            <a:r>
              <a:rPr lang="ko-KR" sz="1800" dirty="0"/>
              <a:t>, </a:t>
            </a:r>
            <a:r>
              <a:rPr lang="ko-KR" sz="1800" dirty="0" err="1"/>
              <a:t>Jeffrey</a:t>
            </a:r>
            <a:r>
              <a:rPr lang="ko-KR" sz="1800" dirty="0"/>
              <a:t> </a:t>
            </a:r>
            <a:r>
              <a:rPr lang="ko-KR" sz="1800" dirty="0" err="1"/>
              <a:t>Jopling</a:t>
            </a:r>
            <a:r>
              <a:rPr lang="ko-KR" sz="1800" dirty="0"/>
              <a:t>, </a:t>
            </a:r>
            <a:r>
              <a:rPr lang="ko-KR" sz="1800" dirty="0" err="1"/>
              <a:t>Michael</a:t>
            </a:r>
            <a:r>
              <a:rPr lang="ko-KR" sz="1800" dirty="0"/>
              <a:t> </a:t>
            </a:r>
            <a:r>
              <a:rPr lang="ko-KR" sz="1800" dirty="0" err="1"/>
              <a:t>Moor</a:t>
            </a:r>
            <a:endParaRPr sz="1800" dirty="0"/>
          </a:p>
        </p:txBody>
      </p:sp>
      <p:sp>
        <p:nvSpPr>
          <p:cNvPr id="94" name="Google Shape;94;p1"/>
          <p:cNvSpPr txBox="1"/>
          <p:nvPr/>
        </p:nvSpPr>
        <p:spPr>
          <a:xfrm>
            <a:off x="4970958" y="4636744"/>
            <a:ext cx="6684900" cy="13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rgbClr val="509D9C"/>
                </a:solidFill>
                <a:latin typeface="Arial"/>
                <a:ea typeface="Arial"/>
                <a:cs typeface="Arial"/>
                <a:sym typeface="Arial"/>
              </a:rPr>
              <a:t>의료인공지능 연구회</a:t>
            </a:r>
            <a:endParaRPr sz="2400" b="0" i="0" u="none" strike="noStrike" cap="none">
              <a:solidFill>
                <a:srgbClr val="509D9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울산대학교 의과대학 서울아산병원 정보통계의학교실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sz="2400">
                <a:solidFill>
                  <a:schemeClr val="dk1"/>
                </a:solidFill>
              </a:rPr>
              <a:t>인턴</a:t>
            </a:r>
            <a:r>
              <a:rPr lang="ko-KR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김대엽</a:t>
            </a:r>
            <a:endParaRPr sz="2400" b="0" i="0" u="none" strike="noStrike" cap="none" baseline="30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" name="Google Shape;95;p1"/>
          <p:cNvGrpSpPr/>
          <p:nvPr/>
        </p:nvGrpSpPr>
        <p:grpSpPr>
          <a:xfrm>
            <a:off x="273255" y="6477622"/>
            <a:ext cx="1927845" cy="225219"/>
            <a:chOff x="485023" y="42255440"/>
            <a:chExt cx="5272460" cy="615950"/>
          </a:xfrm>
        </p:grpSpPr>
        <p:pic>
          <p:nvPicPr>
            <p:cNvPr id="96" name="Google Shape;96;p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85023" y="42317670"/>
              <a:ext cx="3067685" cy="4914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744533" y="42255440"/>
              <a:ext cx="2012950" cy="6159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8" name="Google Shape;98;p1" descr="텍스트, 폰트, 그래픽, 그래픽 디자인이(가) 표시된 사진&#10;&#10;자동 생성된 설명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322142" y="134397"/>
            <a:ext cx="667446" cy="247382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>
            <a:spLocks noGrp="1"/>
          </p:cNvSpPr>
          <p:nvPr>
            <p:ph type="sldNum" idx="12"/>
          </p:nvPr>
        </p:nvSpPr>
        <p:spPr>
          <a:xfrm>
            <a:off x="89126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altLang="ko-KR"/>
              <a:t>1</a:t>
            </a:fld>
            <a:endParaRPr/>
          </a:p>
        </p:txBody>
      </p:sp>
      <p:pic>
        <p:nvPicPr>
          <p:cNvPr id="88" name="Audio 87">
            <a:extLst>
              <a:ext uri="{FF2B5EF4-FFF2-40B4-BE49-F238E27FC236}">
                <a16:creationId xmlns:a16="http://schemas.microsoft.com/office/drawing/2014/main" id="{8F70F047-99E1-0D32-D0AD-C0E894B8AF0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</p:cSld>
  <p:clrMapOvr>
    <a:masterClrMapping/>
  </p:clrMapOvr>
  <p:transition advTm="3142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8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c896615d4_0_471"/>
          <p:cNvSpPr/>
          <p:nvPr/>
        </p:nvSpPr>
        <p:spPr>
          <a:xfrm>
            <a:off x="0" y="0"/>
            <a:ext cx="162000" cy="856200"/>
          </a:xfrm>
          <a:prstGeom prst="rect">
            <a:avLst/>
          </a:prstGeom>
          <a:solidFill>
            <a:srgbClr val="87B2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6" name="Google Shape;106;g3bc896615d4_0_471"/>
          <p:cNvSpPr/>
          <p:nvPr/>
        </p:nvSpPr>
        <p:spPr>
          <a:xfrm>
            <a:off x="207866" y="0"/>
            <a:ext cx="89400" cy="856200"/>
          </a:xfrm>
          <a:prstGeom prst="rect">
            <a:avLst/>
          </a:prstGeom>
          <a:solidFill>
            <a:srgbClr val="CD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" name="Google Shape;107;g3bc896615d4_0_471"/>
          <p:cNvSpPr txBox="1">
            <a:spLocks noGrp="1"/>
          </p:cNvSpPr>
          <p:nvPr>
            <p:ph type="sldNum" idx="12"/>
          </p:nvPr>
        </p:nvSpPr>
        <p:spPr>
          <a:xfrm>
            <a:off x="8912665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altLang="ko-KR"/>
              <a:t>2</a:t>
            </a:fld>
            <a:endParaRPr/>
          </a:p>
        </p:txBody>
      </p:sp>
      <p:pic>
        <p:nvPicPr>
          <p:cNvPr id="108" name="Google Shape;108;g3bc896615d4_0_471" descr="텍스트, 폰트, 그래픽, 그래픽 디자인이(가) 표시된 사진&#10;&#10;자동 생성된 설명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22142" y="134397"/>
            <a:ext cx="667446" cy="2473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" name="Google Shape;109;g3bc896615d4_0_471"/>
          <p:cNvGrpSpPr/>
          <p:nvPr/>
        </p:nvGrpSpPr>
        <p:grpSpPr>
          <a:xfrm>
            <a:off x="273234" y="6475723"/>
            <a:ext cx="1927611" cy="225191"/>
            <a:chOff x="485023" y="42255440"/>
            <a:chExt cx="5272460" cy="615950"/>
          </a:xfrm>
        </p:grpSpPr>
        <p:pic>
          <p:nvPicPr>
            <p:cNvPr id="110" name="Google Shape;110;g3bc896615d4_0_47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85023" y="42317670"/>
              <a:ext cx="3067685" cy="4914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" name="Google Shape;111;g3bc896615d4_0_471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744533" y="42255440"/>
              <a:ext cx="2012950" cy="6159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2" name="Google Shape;112;g3bc896615d4_0_471"/>
          <p:cNvSpPr txBox="1"/>
          <p:nvPr/>
        </p:nvSpPr>
        <p:spPr>
          <a:xfrm>
            <a:off x="419501" y="102300"/>
            <a:ext cx="98280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ko-KR"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AgentClinic: a multimodal agent benchmark to evaluate AI in simulated clinical environments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 sz="2800">
                <a:solidFill>
                  <a:schemeClr val="dk1"/>
                </a:solidFill>
              </a:rPr>
              <a:t>연구 배경 (Background)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bc896615d4_0_471"/>
          <p:cNvSpPr/>
          <p:nvPr/>
        </p:nvSpPr>
        <p:spPr>
          <a:xfrm>
            <a:off x="733900" y="983725"/>
            <a:ext cx="10588200" cy="5028000"/>
          </a:xfrm>
          <a:prstGeom prst="roundRect">
            <a:avLst>
              <a:gd name="adj" fmla="val 6791"/>
            </a:avLst>
          </a:prstGeom>
          <a:solidFill>
            <a:schemeClr val="lt1"/>
          </a:solidFill>
          <a:ln w="38100" cap="flat" cmpd="sng">
            <a:solidFill>
              <a:srgbClr val="87B2B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-KR" sz="2000" b="1" dirty="0">
                <a:solidFill>
                  <a:schemeClr val="dk1"/>
                </a:solidFill>
              </a:rPr>
              <a:t>현재 메디컬 AI 의 평가 방식 </a:t>
            </a:r>
            <a:r>
              <a:rPr lang="ko-KR" sz="2000" b="1" dirty="0" err="1">
                <a:solidFill>
                  <a:schemeClr val="dk1"/>
                </a:solidFill>
              </a:rPr>
              <a:t>vs</a:t>
            </a:r>
            <a:r>
              <a:rPr lang="ko-KR" sz="2000" b="1" dirty="0">
                <a:solidFill>
                  <a:schemeClr val="dk1"/>
                </a:solidFill>
              </a:rPr>
              <a:t> 실제 진료 방식</a:t>
            </a:r>
            <a:endParaRPr sz="2000" b="1" dirty="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-KR" sz="2000" dirty="0">
                <a:solidFill>
                  <a:schemeClr val="dk1"/>
                </a:solidFill>
              </a:rPr>
              <a:t>의료 AI 평가는 주로 </a:t>
            </a:r>
            <a:r>
              <a:rPr lang="ko-KR" sz="2000" dirty="0" err="1">
                <a:solidFill>
                  <a:schemeClr val="dk1"/>
                </a:solidFill>
              </a:rPr>
              <a:t>MedQA</a:t>
            </a:r>
            <a:r>
              <a:rPr lang="ko-KR" sz="2000" dirty="0">
                <a:solidFill>
                  <a:schemeClr val="dk1"/>
                </a:solidFill>
              </a:rPr>
              <a:t> / USMLE 스타일 QA </a:t>
            </a:r>
            <a:r>
              <a:rPr lang="ko-KR" altLang="en-US" sz="2000" dirty="0">
                <a:solidFill>
                  <a:schemeClr val="dk1"/>
                </a:solidFill>
              </a:rPr>
              <a:t>형식</a:t>
            </a:r>
            <a:endParaRPr sz="2000" dirty="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-KR" sz="2000" dirty="0">
                <a:solidFill>
                  <a:schemeClr val="dk1"/>
                </a:solidFill>
              </a:rPr>
              <a:t>단일 질문 → 단일 정답 구조</a:t>
            </a:r>
            <a:endParaRPr sz="2000" dirty="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-KR" sz="2000" dirty="0">
                <a:solidFill>
                  <a:schemeClr val="dk1"/>
                </a:solidFill>
              </a:rPr>
              <a:t>정적(</a:t>
            </a:r>
            <a:r>
              <a:rPr lang="ko-KR" sz="2000" dirty="0" err="1">
                <a:solidFill>
                  <a:schemeClr val="dk1"/>
                </a:solidFill>
              </a:rPr>
              <a:t>static</a:t>
            </a:r>
            <a:r>
              <a:rPr lang="ko-KR" sz="2000" dirty="0">
                <a:solidFill>
                  <a:schemeClr val="dk1"/>
                </a:solidFill>
              </a:rPr>
              <a:t>) 텍스트 기반 평가</a:t>
            </a:r>
            <a:endParaRPr sz="2000" dirty="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-KR" sz="2000" dirty="0">
                <a:solidFill>
                  <a:schemeClr val="dk1"/>
                </a:solidFill>
              </a:rPr>
              <a:t>모델의 의학 지식 수준만 측정</a:t>
            </a:r>
            <a:br>
              <a:rPr lang="ko-KR" sz="2000" dirty="0">
                <a:solidFill>
                  <a:schemeClr val="dk1"/>
                </a:solidFill>
              </a:rPr>
            </a:b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-KR" sz="2000" b="1" dirty="0" err="1">
                <a:solidFill>
                  <a:schemeClr val="dk1"/>
                </a:solidFill>
              </a:rPr>
              <a:t>Real</a:t>
            </a:r>
            <a:r>
              <a:rPr lang="ko-KR" sz="2000" b="1" dirty="0">
                <a:solidFill>
                  <a:schemeClr val="dk1"/>
                </a:solidFill>
              </a:rPr>
              <a:t> </a:t>
            </a:r>
            <a:r>
              <a:rPr lang="ko-KR" sz="2000" b="1" dirty="0" err="1">
                <a:solidFill>
                  <a:schemeClr val="dk1"/>
                </a:solidFill>
              </a:rPr>
              <a:t>Clinical</a:t>
            </a:r>
            <a:r>
              <a:rPr lang="ko-KR" sz="2000" b="1" dirty="0">
                <a:solidFill>
                  <a:schemeClr val="dk1"/>
                </a:solidFill>
              </a:rPr>
              <a:t> </a:t>
            </a:r>
            <a:r>
              <a:rPr lang="ko-KR" sz="2000" b="1" dirty="0" err="1">
                <a:solidFill>
                  <a:schemeClr val="dk1"/>
                </a:solidFill>
              </a:rPr>
              <a:t>Practice</a:t>
            </a:r>
            <a:endParaRPr sz="2000" b="1" dirty="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-KR" sz="2000" dirty="0">
                <a:solidFill>
                  <a:schemeClr val="dk1"/>
                </a:solidFill>
              </a:rPr>
              <a:t>환자와의 대화(</a:t>
            </a:r>
            <a:r>
              <a:rPr lang="ko-KR" sz="2000" dirty="0" err="1">
                <a:solidFill>
                  <a:schemeClr val="dk1"/>
                </a:solidFill>
              </a:rPr>
              <a:t>history</a:t>
            </a:r>
            <a:r>
              <a:rPr lang="ko-KR" sz="2000" dirty="0">
                <a:solidFill>
                  <a:schemeClr val="dk1"/>
                </a:solidFill>
              </a:rPr>
              <a:t> </a:t>
            </a:r>
            <a:r>
              <a:rPr lang="ko-KR" sz="2000" dirty="0" err="1">
                <a:solidFill>
                  <a:schemeClr val="dk1"/>
                </a:solidFill>
              </a:rPr>
              <a:t>taking</a:t>
            </a:r>
            <a:r>
              <a:rPr lang="ko-KR" sz="2000" dirty="0">
                <a:solidFill>
                  <a:schemeClr val="dk1"/>
                </a:solidFill>
              </a:rPr>
              <a:t>)</a:t>
            </a:r>
            <a:endParaRPr sz="2000" dirty="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-KR" sz="2000" dirty="0">
                <a:solidFill>
                  <a:schemeClr val="dk1"/>
                </a:solidFill>
              </a:rPr>
              <a:t>추가 검사 선택(</a:t>
            </a:r>
            <a:r>
              <a:rPr lang="ko-KR" sz="2000" dirty="0" err="1">
                <a:solidFill>
                  <a:schemeClr val="dk1"/>
                </a:solidFill>
              </a:rPr>
              <a:t>test</a:t>
            </a:r>
            <a:r>
              <a:rPr lang="ko-KR" sz="2000" dirty="0">
                <a:solidFill>
                  <a:schemeClr val="dk1"/>
                </a:solidFill>
              </a:rPr>
              <a:t> </a:t>
            </a:r>
            <a:r>
              <a:rPr lang="ko-KR" sz="2000" dirty="0" err="1">
                <a:solidFill>
                  <a:schemeClr val="dk1"/>
                </a:solidFill>
              </a:rPr>
              <a:t>ordering</a:t>
            </a:r>
            <a:r>
              <a:rPr lang="ko-KR" sz="2000" dirty="0">
                <a:solidFill>
                  <a:schemeClr val="dk1"/>
                </a:solidFill>
              </a:rPr>
              <a:t>)</a:t>
            </a:r>
            <a:endParaRPr sz="2000" dirty="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-KR" sz="2000" dirty="0">
                <a:solidFill>
                  <a:schemeClr val="dk1"/>
                </a:solidFill>
              </a:rPr>
              <a:t>순차적 의사결정(</a:t>
            </a:r>
            <a:r>
              <a:rPr lang="ko-KR" sz="2000" dirty="0" err="1">
                <a:solidFill>
                  <a:schemeClr val="dk1"/>
                </a:solidFill>
              </a:rPr>
              <a:t>sequential</a:t>
            </a:r>
            <a:r>
              <a:rPr lang="ko-KR" sz="2000" dirty="0">
                <a:solidFill>
                  <a:schemeClr val="dk1"/>
                </a:solidFill>
              </a:rPr>
              <a:t> </a:t>
            </a:r>
            <a:r>
              <a:rPr lang="ko-KR" sz="2000" dirty="0" err="1">
                <a:solidFill>
                  <a:schemeClr val="dk1"/>
                </a:solidFill>
              </a:rPr>
              <a:t>decision</a:t>
            </a:r>
            <a:r>
              <a:rPr lang="ko-KR" sz="2000" dirty="0">
                <a:solidFill>
                  <a:schemeClr val="dk1"/>
                </a:solidFill>
              </a:rPr>
              <a:t> </a:t>
            </a:r>
            <a:r>
              <a:rPr lang="ko-KR" sz="2000" dirty="0" err="1">
                <a:solidFill>
                  <a:schemeClr val="dk1"/>
                </a:solidFill>
              </a:rPr>
              <a:t>making</a:t>
            </a:r>
            <a:r>
              <a:rPr lang="ko-KR" sz="2000" dirty="0">
                <a:solidFill>
                  <a:schemeClr val="dk1"/>
                </a:solidFill>
              </a:rPr>
              <a:t>)</a:t>
            </a:r>
            <a:endParaRPr sz="2000" dirty="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-KR" sz="2000" dirty="0" err="1">
                <a:solidFill>
                  <a:schemeClr val="dk1"/>
                </a:solidFill>
              </a:rPr>
              <a:t>Multimodal</a:t>
            </a:r>
            <a:r>
              <a:rPr lang="ko-KR" sz="2000" dirty="0">
                <a:solidFill>
                  <a:schemeClr val="dk1"/>
                </a:solidFill>
              </a:rPr>
              <a:t> 정보 활용 (영상, 검사 수치 등)</a:t>
            </a:r>
            <a:endParaRPr sz="1900" dirty="0">
              <a:solidFill>
                <a:schemeClr val="dk1"/>
              </a:solidFill>
            </a:endParaRPr>
          </a:p>
        </p:txBody>
      </p:sp>
      <p:pic>
        <p:nvPicPr>
          <p:cNvPr id="149" name="Audio 148">
            <a:extLst>
              <a:ext uri="{FF2B5EF4-FFF2-40B4-BE49-F238E27FC236}">
                <a16:creationId xmlns:a16="http://schemas.microsoft.com/office/drawing/2014/main" id="{EF4DEE28-86A7-AF17-F900-6F3230D1EE6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</p:cSld>
  <p:clrMapOvr>
    <a:masterClrMapping/>
  </p:clrMapOvr>
  <p:transition advTm="56309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9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c896615d4_0_510"/>
          <p:cNvSpPr/>
          <p:nvPr/>
        </p:nvSpPr>
        <p:spPr>
          <a:xfrm>
            <a:off x="0" y="0"/>
            <a:ext cx="162000" cy="856200"/>
          </a:xfrm>
          <a:prstGeom prst="rect">
            <a:avLst/>
          </a:prstGeom>
          <a:solidFill>
            <a:srgbClr val="87B2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" name="Google Shape;138;g3bc896615d4_0_510"/>
          <p:cNvSpPr/>
          <p:nvPr/>
        </p:nvSpPr>
        <p:spPr>
          <a:xfrm>
            <a:off x="207866" y="0"/>
            <a:ext cx="89400" cy="856200"/>
          </a:xfrm>
          <a:prstGeom prst="rect">
            <a:avLst/>
          </a:prstGeom>
          <a:solidFill>
            <a:srgbClr val="CD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9" name="Google Shape;139;g3bc896615d4_0_510"/>
          <p:cNvSpPr txBox="1">
            <a:spLocks noGrp="1"/>
          </p:cNvSpPr>
          <p:nvPr>
            <p:ph type="sldNum" idx="12"/>
          </p:nvPr>
        </p:nvSpPr>
        <p:spPr>
          <a:xfrm>
            <a:off x="8912665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altLang="ko-KR"/>
              <a:t>3</a:t>
            </a:fld>
            <a:endParaRPr/>
          </a:p>
        </p:txBody>
      </p:sp>
      <p:pic>
        <p:nvPicPr>
          <p:cNvPr id="140" name="Google Shape;140;g3bc896615d4_0_510" descr="텍스트, 폰트, 그래픽, 그래픽 디자인이(가) 표시된 사진&#10;&#10;자동 생성된 설명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22142" y="134397"/>
            <a:ext cx="667446" cy="2473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1" name="Google Shape;141;g3bc896615d4_0_510"/>
          <p:cNvGrpSpPr/>
          <p:nvPr/>
        </p:nvGrpSpPr>
        <p:grpSpPr>
          <a:xfrm>
            <a:off x="273234" y="6475723"/>
            <a:ext cx="1927611" cy="225191"/>
            <a:chOff x="485023" y="42255440"/>
            <a:chExt cx="5272460" cy="615950"/>
          </a:xfrm>
        </p:grpSpPr>
        <p:pic>
          <p:nvPicPr>
            <p:cNvPr id="142" name="Google Shape;142;g3bc896615d4_0_51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85023" y="42317670"/>
              <a:ext cx="3067685" cy="4914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" name="Google Shape;143;g3bc896615d4_0_510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744533" y="42255440"/>
              <a:ext cx="2012950" cy="6159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4" name="Google Shape;144;g3bc896615d4_0_510"/>
          <p:cNvSpPr txBox="1"/>
          <p:nvPr/>
        </p:nvSpPr>
        <p:spPr>
          <a:xfrm>
            <a:off x="419501" y="102300"/>
            <a:ext cx="98280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ko-KR"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AgentClinic: a multimodal agent benchmark to evaluate AI in simulated clinical environments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 sz="2800">
                <a:solidFill>
                  <a:schemeClr val="dk1"/>
                </a:solidFill>
              </a:rPr>
              <a:t>AgentClinic의 연구 목표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3bc896615d4_0_510"/>
          <p:cNvSpPr/>
          <p:nvPr/>
        </p:nvSpPr>
        <p:spPr>
          <a:xfrm>
            <a:off x="499675" y="983725"/>
            <a:ext cx="10822200" cy="5372700"/>
          </a:xfrm>
          <a:prstGeom prst="roundRect">
            <a:avLst>
              <a:gd name="adj" fmla="val 6791"/>
            </a:avLst>
          </a:prstGeom>
          <a:solidFill>
            <a:schemeClr val="lt1"/>
          </a:solidFill>
          <a:ln w="38100" cap="flat" cmpd="sng">
            <a:solidFill>
              <a:srgbClr val="87B2B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-KR" sz="2000" b="1">
                <a:solidFill>
                  <a:schemeClr val="dk1"/>
                </a:solidFill>
              </a:rPr>
              <a:t>OSCE 스타일 시뮬레이션</a:t>
            </a:r>
            <a:endParaRPr sz="2000" b="1">
              <a:solidFill>
                <a:schemeClr val="dk1"/>
              </a:solidFill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lphaLcPeriod"/>
            </a:pPr>
            <a:r>
              <a:rPr lang="ko-KR" sz="1700">
                <a:solidFill>
                  <a:schemeClr val="dk1"/>
                </a:solidFill>
              </a:rPr>
              <a:t>실제 임상 실기시험(OSCE)을 모방한 진료 시뮬레이션 환경</a:t>
            </a:r>
            <a:endParaRPr sz="170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-KR" sz="2000" b="1">
                <a:solidFill>
                  <a:schemeClr val="dk1"/>
                </a:solidFill>
              </a:rPr>
              <a:t>멀티 에이전트 구조</a:t>
            </a:r>
            <a:endParaRPr sz="2000" b="1">
              <a:solidFill>
                <a:schemeClr val="dk1"/>
              </a:solidFill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lphaLcPeriod"/>
            </a:pPr>
            <a:r>
              <a:rPr lang="ko-KR" sz="1700">
                <a:solidFill>
                  <a:schemeClr val="dk1"/>
                </a:solidFill>
              </a:rPr>
              <a:t>Doctor / Patient / Measurement / Moderator agent로 구성</a:t>
            </a:r>
            <a:endParaRPr sz="170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-KR" sz="2000" b="1">
                <a:solidFill>
                  <a:schemeClr val="dk1"/>
                </a:solidFill>
              </a:rPr>
              <a:t>실제 임상 환경과 유사한 평가 환경 구축</a:t>
            </a:r>
            <a:endParaRPr sz="2000" b="1">
              <a:solidFill>
                <a:schemeClr val="dk1"/>
              </a:solidFill>
            </a:endParaRPr>
          </a:p>
          <a:p>
            <a:pPr marL="914400" lvl="1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lphaLcPeriod"/>
            </a:pPr>
            <a:r>
              <a:rPr lang="ko-KR" sz="1700">
                <a:solidFill>
                  <a:schemeClr val="dk1"/>
                </a:solidFill>
              </a:rPr>
              <a:t>단일 QA가 아니라, 진료 워크플로우(정보 수집 → 검사 → 판단)를 시뮬레이션</a:t>
            </a:r>
            <a:endParaRPr sz="1700" b="1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-KR" sz="2000" b="1">
                <a:solidFill>
                  <a:schemeClr val="dk1"/>
                </a:solidFill>
              </a:rPr>
              <a:t>Multimodal 환경</a:t>
            </a:r>
            <a:endParaRPr sz="2000" b="1">
              <a:solidFill>
                <a:schemeClr val="dk1"/>
              </a:solidFill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lphaLcPeriod"/>
            </a:pPr>
            <a:r>
              <a:rPr lang="ko-KR" sz="1700">
                <a:solidFill>
                  <a:schemeClr val="dk1"/>
                </a:solidFill>
              </a:rPr>
              <a:t>텍스트 대화 + 영상(X-ray, MRI 등) 기반 진단 포함</a:t>
            </a:r>
            <a:endParaRPr sz="170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-KR" sz="2000" b="1">
                <a:solidFill>
                  <a:schemeClr val="dk1"/>
                </a:solidFill>
              </a:rPr>
              <a:t>Bias simulation</a:t>
            </a:r>
            <a:endParaRPr sz="2000" b="1">
              <a:solidFill>
                <a:schemeClr val="dk1"/>
              </a:solidFill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lphaLcPeriod"/>
            </a:pPr>
            <a:r>
              <a:rPr lang="ko-KR" sz="1700">
                <a:solidFill>
                  <a:schemeClr val="dk1"/>
                </a:solidFill>
              </a:rPr>
              <a:t>Cognitive bias 및 Implicit bias를 프롬프트로 주입하여 현실적 편향 상황 재현</a:t>
            </a:r>
            <a:endParaRPr sz="170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-KR" sz="2000" b="1">
                <a:solidFill>
                  <a:schemeClr val="dk1"/>
                </a:solidFill>
              </a:rPr>
              <a:t>Patient-centered metrics</a:t>
            </a:r>
            <a:endParaRPr sz="2000" b="1">
              <a:solidFill>
                <a:schemeClr val="dk1"/>
              </a:solidFill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lphaLcPeriod"/>
            </a:pPr>
            <a:r>
              <a:rPr lang="ko-KR" sz="1700">
                <a:solidFill>
                  <a:schemeClr val="dk1"/>
                </a:solidFill>
              </a:rPr>
              <a:t>진단 정확도뿐 아니라 환자 신뢰도, 순응도, 상담 만족도까지 평가</a:t>
            </a:r>
            <a:endParaRPr sz="170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-KR" sz="2000" b="1">
                <a:solidFill>
                  <a:schemeClr val="dk1"/>
                </a:solidFill>
              </a:rPr>
              <a:t>Multilingual &amp; specialist case 포함</a:t>
            </a:r>
            <a:endParaRPr sz="2000" b="1">
              <a:solidFill>
                <a:schemeClr val="dk1"/>
              </a:solidFill>
            </a:endParaRPr>
          </a:p>
          <a:p>
            <a:pPr marL="914400" lvl="1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lphaLcPeriod"/>
            </a:pPr>
            <a:r>
              <a:rPr lang="ko-KR" sz="1700">
                <a:solidFill>
                  <a:schemeClr val="dk1"/>
                </a:solidFill>
              </a:rPr>
              <a:t>다국어 및 전문과 시나리오로 현장 일반화(generalization) 가능성 평가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171" name="Audio 170">
            <a:extLst>
              <a:ext uri="{FF2B5EF4-FFF2-40B4-BE49-F238E27FC236}">
                <a16:creationId xmlns:a16="http://schemas.microsoft.com/office/drawing/2014/main" id="{D78EBD9E-5A38-CC69-C0C3-7A53F0681E4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</p:cSld>
  <p:clrMapOvr>
    <a:masterClrMapping/>
  </p:clrMapOvr>
  <p:transition advTm="7056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1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c896615d4_0_392"/>
          <p:cNvSpPr/>
          <p:nvPr/>
        </p:nvSpPr>
        <p:spPr>
          <a:xfrm>
            <a:off x="0" y="0"/>
            <a:ext cx="162000" cy="856200"/>
          </a:xfrm>
          <a:prstGeom prst="rect">
            <a:avLst/>
          </a:prstGeom>
          <a:solidFill>
            <a:srgbClr val="87B2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2" name="Google Shape;152;g3bc896615d4_0_392"/>
          <p:cNvSpPr/>
          <p:nvPr/>
        </p:nvSpPr>
        <p:spPr>
          <a:xfrm>
            <a:off x="207866" y="0"/>
            <a:ext cx="89400" cy="856200"/>
          </a:xfrm>
          <a:prstGeom prst="rect">
            <a:avLst/>
          </a:prstGeom>
          <a:solidFill>
            <a:srgbClr val="CD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3" name="Google Shape;153;g3bc896615d4_0_392"/>
          <p:cNvSpPr txBox="1">
            <a:spLocks noGrp="1"/>
          </p:cNvSpPr>
          <p:nvPr>
            <p:ph type="sldNum" idx="12"/>
          </p:nvPr>
        </p:nvSpPr>
        <p:spPr>
          <a:xfrm>
            <a:off x="8912665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altLang="ko-KR"/>
              <a:t>4</a:t>
            </a:fld>
            <a:endParaRPr/>
          </a:p>
        </p:txBody>
      </p:sp>
      <p:pic>
        <p:nvPicPr>
          <p:cNvPr id="154" name="Google Shape;154;g3bc896615d4_0_392" descr="텍스트, 폰트, 그래픽, 그래픽 디자인이(가) 표시된 사진&#10;&#10;자동 생성된 설명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22142" y="134397"/>
            <a:ext cx="667446" cy="2473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5" name="Google Shape;155;g3bc896615d4_0_392"/>
          <p:cNvGrpSpPr/>
          <p:nvPr/>
        </p:nvGrpSpPr>
        <p:grpSpPr>
          <a:xfrm>
            <a:off x="273234" y="6475723"/>
            <a:ext cx="1927611" cy="225191"/>
            <a:chOff x="485023" y="42255440"/>
            <a:chExt cx="5272460" cy="615950"/>
          </a:xfrm>
        </p:grpSpPr>
        <p:pic>
          <p:nvPicPr>
            <p:cNvPr id="156" name="Google Shape;156;g3bc896615d4_0_392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85023" y="42317670"/>
              <a:ext cx="3067685" cy="4914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g3bc896615d4_0_392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744533" y="42255440"/>
              <a:ext cx="2012950" cy="6159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8" name="Google Shape;158;g3bc896615d4_0_392"/>
          <p:cNvSpPr txBox="1"/>
          <p:nvPr/>
        </p:nvSpPr>
        <p:spPr>
          <a:xfrm>
            <a:off x="419500" y="102300"/>
            <a:ext cx="93255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ko-KR" sz="1500" b="0" i="0" u="none" strike="noStrike" cap="none" dirty="0" err="1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AgentClinic</a:t>
            </a:r>
            <a:r>
              <a:rPr lang="ko-KR" sz="1500" b="0" i="0" u="none" strike="noStrike" cap="none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ko-KR" sz="1500" b="0" i="0" u="none" strike="noStrike" cap="none" dirty="0" err="1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ko-KR" sz="1500" b="0" i="0" u="none" strike="noStrike" cap="none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500" b="0" i="0" u="none" strike="noStrike" cap="none" dirty="0" err="1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multimodal</a:t>
            </a:r>
            <a:r>
              <a:rPr lang="ko-KR" sz="1500" b="0" i="0" u="none" strike="noStrike" cap="none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500" b="0" i="0" u="none" strike="noStrike" cap="none" dirty="0" err="1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r>
              <a:rPr lang="ko-KR" sz="1500" b="0" i="0" u="none" strike="noStrike" cap="none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500" b="0" i="0" u="none" strike="noStrike" cap="none" dirty="0" err="1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benchmark</a:t>
            </a:r>
            <a:r>
              <a:rPr lang="ko-KR" sz="1500" b="0" i="0" u="none" strike="noStrike" cap="none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500" b="0" i="0" u="none" strike="noStrike" cap="none" dirty="0" err="1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to</a:t>
            </a:r>
            <a:r>
              <a:rPr lang="ko-KR" sz="1500" b="0" i="0" u="none" strike="noStrike" cap="none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500" b="0" i="0" u="none" strike="noStrike" cap="none" dirty="0" err="1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evaluate</a:t>
            </a:r>
            <a:r>
              <a:rPr lang="ko-KR" sz="1500" b="0" i="0" u="none" strike="noStrike" cap="none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 AI </a:t>
            </a:r>
            <a:r>
              <a:rPr lang="ko-KR" sz="1500" b="0" i="0" u="none" strike="noStrike" cap="none" dirty="0" err="1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lang="ko-KR" sz="1500" b="0" i="0" u="none" strike="noStrike" cap="none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500" b="0" i="0" u="none" strike="noStrike" cap="none" dirty="0" err="1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simulated</a:t>
            </a:r>
            <a:r>
              <a:rPr lang="ko-KR" sz="1500" b="0" i="0" u="none" strike="noStrike" cap="none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500" b="0" i="0" u="none" strike="noStrike" cap="none" dirty="0" err="1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clinical</a:t>
            </a:r>
            <a:r>
              <a:rPr lang="ko-KR" sz="1500" b="0" i="0" u="none" strike="noStrike" cap="none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500" b="0" i="0" u="none" strike="noStrike" cap="none" dirty="0" err="1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environments</a:t>
            </a:r>
            <a:endParaRPr sz="200" b="0" i="0" u="none" strike="noStrike" cap="none" dirty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ko-KR" sz="2800" dirty="0">
                <a:solidFill>
                  <a:schemeClr val="dk1"/>
                </a:solidFill>
              </a:rPr>
              <a:t>OSCE-</a:t>
            </a:r>
            <a:r>
              <a:rPr lang="ko-KR" sz="2800" dirty="0" err="1">
                <a:solidFill>
                  <a:schemeClr val="dk1"/>
                </a:solidFill>
              </a:rPr>
              <a:t>inspired</a:t>
            </a:r>
            <a:r>
              <a:rPr lang="ko-KR" sz="2800" dirty="0">
                <a:solidFill>
                  <a:schemeClr val="dk1"/>
                </a:solidFill>
              </a:rPr>
              <a:t> </a:t>
            </a:r>
            <a:r>
              <a:rPr lang="ko-KR" sz="2800" dirty="0" err="1">
                <a:solidFill>
                  <a:schemeClr val="dk1"/>
                </a:solidFill>
              </a:rPr>
              <a:t>Clinical</a:t>
            </a:r>
            <a:r>
              <a:rPr lang="ko-KR" sz="2800" dirty="0">
                <a:solidFill>
                  <a:schemeClr val="dk1"/>
                </a:solidFill>
              </a:rPr>
              <a:t> </a:t>
            </a:r>
            <a:r>
              <a:rPr lang="ko-KR" sz="2800" dirty="0" err="1">
                <a:solidFill>
                  <a:schemeClr val="dk1"/>
                </a:solidFill>
              </a:rPr>
              <a:t>Evaluation</a:t>
            </a:r>
            <a:r>
              <a:rPr lang="ko-KR" sz="2800" dirty="0">
                <a:solidFill>
                  <a:schemeClr val="dk1"/>
                </a:solidFill>
              </a:rPr>
              <a:t> </a:t>
            </a:r>
            <a:r>
              <a:rPr lang="ko-KR" sz="2800" dirty="0" err="1">
                <a:solidFill>
                  <a:schemeClr val="dk1"/>
                </a:solidFill>
              </a:rPr>
              <a:t>Framework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bc896615d4_0_392"/>
          <p:cNvSpPr txBox="1"/>
          <p:nvPr/>
        </p:nvSpPr>
        <p:spPr>
          <a:xfrm>
            <a:off x="4513017" y="1061895"/>
            <a:ext cx="651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3bc896615d4_0_392"/>
          <p:cNvSpPr txBox="1"/>
          <p:nvPr/>
        </p:nvSpPr>
        <p:spPr>
          <a:xfrm>
            <a:off x="2493050" y="6442552"/>
            <a:ext cx="8365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-KR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사진 출처:</a:t>
            </a:r>
            <a:r>
              <a:rPr lang="ko-KR" sz="1000">
                <a:solidFill>
                  <a:schemeClr val="dk1"/>
                </a:solidFill>
              </a:rPr>
              <a:t> LLM-MedQA: Enhancing Medical Question Answering through Case Studies in Large Language Model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bc896615d4_0_392"/>
          <p:cNvSpPr txBox="1"/>
          <p:nvPr/>
        </p:nvSpPr>
        <p:spPr>
          <a:xfrm>
            <a:off x="419500" y="1061895"/>
            <a:ext cx="10902642" cy="363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-KR" sz="2000" b="1" dirty="0">
                <a:solidFill>
                  <a:schemeClr val="dk1"/>
                </a:solidFill>
              </a:rPr>
              <a:t>OSCE (</a:t>
            </a:r>
            <a:r>
              <a:rPr lang="ko-KR" sz="2000" b="1" dirty="0" err="1">
                <a:solidFill>
                  <a:schemeClr val="dk1"/>
                </a:solidFill>
              </a:rPr>
              <a:t>Objective</a:t>
            </a:r>
            <a:r>
              <a:rPr lang="ko-KR" sz="2000" b="1" dirty="0">
                <a:solidFill>
                  <a:schemeClr val="dk1"/>
                </a:solidFill>
              </a:rPr>
              <a:t> </a:t>
            </a:r>
            <a:r>
              <a:rPr lang="ko-KR" sz="2000" b="1" dirty="0" err="1">
                <a:solidFill>
                  <a:schemeClr val="dk1"/>
                </a:solidFill>
              </a:rPr>
              <a:t>Structured</a:t>
            </a:r>
            <a:r>
              <a:rPr lang="ko-KR" sz="2000" b="1" dirty="0">
                <a:solidFill>
                  <a:schemeClr val="dk1"/>
                </a:solidFill>
              </a:rPr>
              <a:t> </a:t>
            </a:r>
            <a:r>
              <a:rPr lang="ko-KR" sz="2000" b="1" dirty="0" err="1">
                <a:solidFill>
                  <a:schemeClr val="dk1"/>
                </a:solidFill>
              </a:rPr>
              <a:t>Clinical</a:t>
            </a:r>
            <a:r>
              <a:rPr lang="ko-KR" sz="2000" b="1" dirty="0">
                <a:solidFill>
                  <a:schemeClr val="dk1"/>
                </a:solidFill>
              </a:rPr>
              <a:t> </a:t>
            </a:r>
            <a:r>
              <a:rPr lang="ko-KR" sz="2000" b="1" dirty="0" err="1">
                <a:solidFill>
                  <a:schemeClr val="dk1"/>
                </a:solidFill>
              </a:rPr>
              <a:t>Examination</a:t>
            </a:r>
            <a:r>
              <a:rPr lang="ko-KR" sz="2000" b="1" dirty="0">
                <a:solidFill>
                  <a:schemeClr val="dk1"/>
                </a:solidFill>
              </a:rPr>
              <a:t>)</a:t>
            </a:r>
            <a:br>
              <a:rPr lang="ko-KR" sz="2000" b="1" dirty="0">
                <a:solidFill>
                  <a:schemeClr val="dk1"/>
                </a:solidFill>
              </a:rPr>
            </a:br>
            <a:r>
              <a:rPr lang="ko-KR" sz="2000" dirty="0">
                <a:solidFill>
                  <a:schemeClr val="dk1"/>
                </a:solidFill>
              </a:rPr>
              <a:t> : 실제 의사가 수행하는 임상 실기 시험 방식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dk1"/>
              </a:solidFill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-KR" sz="2000" b="1" dirty="0">
                <a:solidFill>
                  <a:schemeClr val="dk1"/>
                </a:solidFill>
              </a:rPr>
              <a:t>핵심 특징:</a:t>
            </a:r>
            <a:endParaRPr sz="2000" b="1" dirty="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-KR" sz="2000" dirty="0">
                <a:solidFill>
                  <a:schemeClr val="dk1"/>
                </a:solidFill>
              </a:rPr>
              <a:t>환자와의 대화(</a:t>
            </a:r>
            <a:r>
              <a:rPr lang="ko-KR" sz="2000" dirty="0" err="1">
                <a:solidFill>
                  <a:schemeClr val="dk1"/>
                </a:solidFill>
              </a:rPr>
              <a:t>history</a:t>
            </a:r>
            <a:r>
              <a:rPr lang="ko-KR" sz="2000" dirty="0">
                <a:solidFill>
                  <a:schemeClr val="dk1"/>
                </a:solidFill>
              </a:rPr>
              <a:t> </a:t>
            </a:r>
            <a:r>
              <a:rPr lang="ko-KR" sz="2000" dirty="0" err="1">
                <a:solidFill>
                  <a:schemeClr val="dk1"/>
                </a:solidFill>
              </a:rPr>
              <a:t>taking</a:t>
            </a:r>
            <a:r>
              <a:rPr lang="ko-KR" sz="2000" dirty="0">
                <a:solidFill>
                  <a:schemeClr val="dk1"/>
                </a:solidFill>
              </a:rPr>
              <a:t>)</a:t>
            </a:r>
            <a:endParaRPr sz="2000" dirty="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-KR" sz="2000" dirty="0">
                <a:solidFill>
                  <a:schemeClr val="dk1"/>
                </a:solidFill>
              </a:rPr>
              <a:t>검사 선택(</a:t>
            </a:r>
            <a:r>
              <a:rPr lang="ko-KR" sz="2000" dirty="0" err="1">
                <a:solidFill>
                  <a:schemeClr val="dk1"/>
                </a:solidFill>
              </a:rPr>
              <a:t>test</a:t>
            </a:r>
            <a:r>
              <a:rPr lang="ko-KR" sz="2000" dirty="0">
                <a:solidFill>
                  <a:schemeClr val="dk1"/>
                </a:solidFill>
              </a:rPr>
              <a:t> </a:t>
            </a:r>
            <a:r>
              <a:rPr lang="ko-KR" sz="2000" dirty="0" err="1">
                <a:solidFill>
                  <a:schemeClr val="dk1"/>
                </a:solidFill>
              </a:rPr>
              <a:t>ordering</a:t>
            </a:r>
            <a:r>
              <a:rPr lang="ko-KR" sz="2000" dirty="0">
                <a:solidFill>
                  <a:schemeClr val="dk1"/>
                </a:solidFill>
              </a:rPr>
              <a:t>)</a:t>
            </a:r>
            <a:endParaRPr sz="2000" dirty="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-KR" sz="2000" dirty="0">
                <a:solidFill>
                  <a:schemeClr val="dk1"/>
                </a:solidFill>
              </a:rPr>
              <a:t>순차적 의사결정(</a:t>
            </a:r>
            <a:r>
              <a:rPr lang="ko-KR" sz="2000" dirty="0" err="1">
                <a:solidFill>
                  <a:schemeClr val="dk1"/>
                </a:solidFill>
              </a:rPr>
              <a:t>sequential</a:t>
            </a:r>
            <a:r>
              <a:rPr lang="ko-KR" sz="2000" dirty="0">
                <a:solidFill>
                  <a:schemeClr val="dk1"/>
                </a:solidFill>
              </a:rPr>
              <a:t> </a:t>
            </a:r>
            <a:r>
              <a:rPr lang="ko-KR" sz="2000" dirty="0" err="1">
                <a:solidFill>
                  <a:schemeClr val="dk1"/>
                </a:solidFill>
              </a:rPr>
              <a:t>decision</a:t>
            </a:r>
            <a:r>
              <a:rPr lang="ko-KR" sz="2000" dirty="0">
                <a:solidFill>
                  <a:schemeClr val="dk1"/>
                </a:solidFill>
              </a:rPr>
              <a:t> </a:t>
            </a:r>
            <a:r>
              <a:rPr lang="ko-KR" sz="2000" dirty="0" err="1">
                <a:solidFill>
                  <a:schemeClr val="dk1"/>
                </a:solidFill>
              </a:rPr>
              <a:t>making</a:t>
            </a:r>
            <a:r>
              <a:rPr lang="ko-KR" sz="2000" dirty="0">
                <a:solidFill>
                  <a:schemeClr val="dk1"/>
                </a:solidFill>
              </a:rPr>
              <a:t>)</a:t>
            </a:r>
            <a:endParaRPr sz="2000" dirty="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-KR" sz="2000" dirty="0">
                <a:solidFill>
                  <a:schemeClr val="dk1"/>
                </a:solidFill>
              </a:rPr>
              <a:t>최종 진단 및 판단 능력 평가</a:t>
            </a:r>
            <a:endParaRPr sz="2900" dirty="0">
              <a:solidFill>
                <a:schemeClr val="dk1"/>
              </a:solidFill>
            </a:endParaRPr>
          </a:p>
        </p:txBody>
      </p:sp>
      <p:pic>
        <p:nvPicPr>
          <p:cNvPr id="170" name="Audio 169">
            <a:extLst>
              <a:ext uri="{FF2B5EF4-FFF2-40B4-BE49-F238E27FC236}">
                <a16:creationId xmlns:a16="http://schemas.microsoft.com/office/drawing/2014/main" id="{1E21A8DE-1A6F-267A-D830-7B90025BD96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</p:cSld>
  <p:clrMapOvr>
    <a:masterClrMapping/>
  </p:clrMapOvr>
  <p:transition advTm="6602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0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"/>
          <p:cNvSpPr/>
          <p:nvPr/>
        </p:nvSpPr>
        <p:spPr>
          <a:xfrm>
            <a:off x="0" y="0"/>
            <a:ext cx="161924" cy="856343"/>
          </a:xfrm>
          <a:prstGeom prst="rect">
            <a:avLst/>
          </a:prstGeom>
          <a:solidFill>
            <a:srgbClr val="87B2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207866" y="0"/>
            <a:ext cx="89314" cy="856343"/>
          </a:xfrm>
          <a:prstGeom prst="rect">
            <a:avLst/>
          </a:prstGeom>
          <a:solidFill>
            <a:srgbClr val="CD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0" name="Google Shape;170;p4"/>
          <p:cNvSpPr txBox="1">
            <a:spLocks noGrp="1"/>
          </p:cNvSpPr>
          <p:nvPr>
            <p:ph type="sldNum" idx="12"/>
          </p:nvPr>
        </p:nvSpPr>
        <p:spPr>
          <a:xfrm>
            <a:off x="89126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altLang="ko-KR"/>
              <a:t>5</a:t>
            </a:fld>
            <a:endParaRPr/>
          </a:p>
        </p:txBody>
      </p:sp>
      <p:pic>
        <p:nvPicPr>
          <p:cNvPr id="171" name="Google Shape;171;p4" descr="텍스트, 폰트, 그래픽, 그래픽 디자인이(가) 표시된 사진&#10;&#10;자동 생성된 설명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22142" y="134397"/>
            <a:ext cx="667446" cy="2473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2" name="Google Shape;172;p4"/>
          <p:cNvGrpSpPr/>
          <p:nvPr/>
        </p:nvGrpSpPr>
        <p:grpSpPr>
          <a:xfrm>
            <a:off x="273255" y="6477622"/>
            <a:ext cx="1927845" cy="225219"/>
            <a:chOff x="485023" y="42255440"/>
            <a:chExt cx="5272460" cy="615950"/>
          </a:xfrm>
        </p:grpSpPr>
        <p:pic>
          <p:nvPicPr>
            <p:cNvPr id="173" name="Google Shape;173;p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85023" y="42317670"/>
              <a:ext cx="3067685" cy="4914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" name="Google Shape;174;p4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744533" y="42255440"/>
              <a:ext cx="2012950" cy="6159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5" name="Google Shape;175;p4"/>
          <p:cNvSpPr txBox="1"/>
          <p:nvPr/>
        </p:nvSpPr>
        <p:spPr>
          <a:xfrm>
            <a:off x="419501" y="102300"/>
            <a:ext cx="90990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ko-KR"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AgentClinic: a multimodal agent benchmark to evaluate AI in simulated clinical environments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ko-KR" sz="2800">
                <a:solidFill>
                  <a:schemeClr val="dk1"/>
                </a:solidFill>
              </a:rPr>
              <a:t>시스템 구조 (Multi-Agent Framework)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"/>
          <p:cNvSpPr txBox="1"/>
          <p:nvPr/>
        </p:nvSpPr>
        <p:spPr>
          <a:xfrm>
            <a:off x="207875" y="965425"/>
            <a:ext cx="4012500" cy="48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-KR" sz="1200" b="1">
                <a:solidFill>
                  <a:schemeClr val="dk1"/>
                </a:solidFill>
              </a:rPr>
              <a:t>Doctor Agent</a:t>
            </a:r>
            <a:endParaRPr sz="1200" b="1">
              <a:solidFill>
                <a:schemeClr val="dk1"/>
              </a:solidFill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ko-KR" sz="1200">
                <a:solidFill>
                  <a:schemeClr val="dk1"/>
                </a:solidFill>
              </a:rPr>
              <a:t>평가 대상이 되는 LLM으로 의사역할을 수행</a:t>
            </a:r>
            <a:endParaRPr sz="1200">
              <a:solidFill>
                <a:schemeClr val="dk1"/>
              </a:solidFill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ko-KR" sz="1200">
                <a:solidFill>
                  <a:schemeClr val="dk1"/>
                </a:solidFill>
              </a:rPr>
              <a:t>환자에게 질문하고, 검사를 요청하며, 최종 진단을 수행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-KR" sz="1200" b="1">
                <a:solidFill>
                  <a:schemeClr val="dk1"/>
                </a:solidFill>
              </a:rPr>
              <a:t>Patient Agent</a:t>
            </a:r>
            <a:endParaRPr sz="1200" b="1">
              <a:solidFill>
                <a:schemeClr val="dk1"/>
              </a:solidFill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ko-KR" sz="1200">
                <a:solidFill>
                  <a:schemeClr val="dk1"/>
                </a:solidFill>
              </a:rPr>
              <a:t>사전에 정의된 임상 시나리오에 따라 증상과 병력을 단계별 제공</a:t>
            </a:r>
            <a:endParaRPr sz="1200">
              <a:solidFill>
                <a:schemeClr val="dk1"/>
              </a:solidFill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ko-KR" sz="1100">
                <a:solidFill>
                  <a:schemeClr val="dk1"/>
                </a:solidFill>
              </a:rPr>
              <a:t>인지적 편향(cognitive bias)과 암묵적 편향(implicit bias)을 포함하여 현실적인 환자 반응과 협조도 변화를 시뮬레이션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-KR" sz="1200" b="1">
                <a:solidFill>
                  <a:schemeClr val="dk1"/>
                </a:solidFill>
              </a:rPr>
              <a:t>Measurement Agent</a:t>
            </a:r>
            <a:endParaRPr sz="1200" b="1">
              <a:solidFill>
                <a:schemeClr val="dk1"/>
              </a:solidFill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ko-KR" sz="1200">
                <a:solidFill>
                  <a:schemeClr val="dk1"/>
                </a:solidFill>
              </a:rPr>
              <a:t>Doctor Agent의 요청에 따라 검사 결과(혈압, ECG, 영상 등)를 제공</a:t>
            </a:r>
            <a:endParaRPr sz="1200">
              <a:solidFill>
                <a:schemeClr val="dk1"/>
              </a:solidFill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ko-KR" sz="1200">
                <a:solidFill>
                  <a:schemeClr val="dk1"/>
                </a:solidFill>
              </a:rPr>
              <a:t>실제 임상 검사 선택 과정을 모사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-KR" sz="1200" b="1">
                <a:solidFill>
                  <a:schemeClr val="dk1"/>
                </a:solidFill>
              </a:rPr>
              <a:t>Moderator Agent</a:t>
            </a:r>
            <a:endParaRPr sz="1200" b="1">
              <a:solidFill>
                <a:schemeClr val="dk1"/>
              </a:solidFill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ko-KR" sz="1200">
                <a:solidFill>
                  <a:schemeClr val="dk1"/>
                </a:solidFill>
              </a:rPr>
              <a:t>Doctor Agent의 최종 진단을 정답과 Ground Truth 와 비교하여 자동평가</a:t>
            </a:r>
            <a:endParaRPr sz="1200">
              <a:solidFill>
                <a:schemeClr val="dk1"/>
              </a:solidFill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ko-KR" sz="1200">
                <a:solidFill>
                  <a:schemeClr val="dk1"/>
                </a:solidFill>
              </a:rPr>
              <a:t>진단 정확도 와 patient confidence, compliance, consultation rating을 산출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</p:txBody>
      </p:sp>
      <p:pic>
        <p:nvPicPr>
          <p:cNvPr id="177" name="Google Shape;177;p4" title="Screenshot 2026-02-01 at 1.40.57 PM.png"/>
          <p:cNvPicPr preferRelativeResize="0"/>
          <p:nvPr/>
        </p:nvPicPr>
        <p:blipFill rotWithShape="1">
          <a:blip r:embed="rId8">
            <a:alphaModFix/>
          </a:blip>
          <a:srcRect l="-2610" r="2610"/>
          <a:stretch/>
        </p:blipFill>
        <p:spPr>
          <a:xfrm>
            <a:off x="4083063" y="965425"/>
            <a:ext cx="7572813" cy="513810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4"/>
          <p:cNvSpPr txBox="1"/>
          <p:nvPr/>
        </p:nvSpPr>
        <p:spPr>
          <a:xfrm>
            <a:off x="2493050" y="6442552"/>
            <a:ext cx="8365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-KR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사진 출처: </a:t>
            </a:r>
            <a:r>
              <a:rPr lang="ko-KR" sz="900">
                <a:solidFill>
                  <a:schemeClr val="dk1"/>
                </a:solidFill>
              </a:rPr>
              <a:t>AgentClinic: a multimodal agent benchmark to evaluate AI in simulated clinical environments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Audio 160">
            <a:extLst>
              <a:ext uri="{FF2B5EF4-FFF2-40B4-BE49-F238E27FC236}">
                <a16:creationId xmlns:a16="http://schemas.microsoft.com/office/drawing/2014/main" id="{3F58458D-EEB1-C5E3-95BC-758C6CFD567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</p:cSld>
  <p:clrMapOvr>
    <a:masterClrMapping/>
  </p:clrMapOvr>
  <p:transition advTm="54124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1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c896615d4_0_421"/>
          <p:cNvSpPr/>
          <p:nvPr/>
        </p:nvSpPr>
        <p:spPr>
          <a:xfrm>
            <a:off x="0" y="0"/>
            <a:ext cx="162000" cy="856200"/>
          </a:xfrm>
          <a:prstGeom prst="rect">
            <a:avLst/>
          </a:prstGeom>
          <a:solidFill>
            <a:srgbClr val="87B2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5" name="Google Shape;185;g3bc896615d4_0_421"/>
          <p:cNvSpPr/>
          <p:nvPr/>
        </p:nvSpPr>
        <p:spPr>
          <a:xfrm>
            <a:off x="207866" y="0"/>
            <a:ext cx="89400" cy="856200"/>
          </a:xfrm>
          <a:prstGeom prst="rect">
            <a:avLst/>
          </a:prstGeom>
          <a:solidFill>
            <a:srgbClr val="CD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6" name="Google Shape;186;g3bc896615d4_0_421"/>
          <p:cNvSpPr txBox="1">
            <a:spLocks noGrp="1"/>
          </p:cNvSpPr>
          <p:nvPr>
            <p:ph type="sldNum" idx="12"/>
          </p:nvPr>
        </p:nvSpPr>
        <p:spPr>
          <a:xfrm>
            <a:off x="8912665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altLang="ko-KR"/>
              <a:t>6</a:t>
            </a:fld>
            <a:endParaRPr/>
          </a:p>
        </p:txBody>
      </p:sp>
      <p:pic>
        <p:nvPicPr>
          <p:cNvPr id="187" name="Google Shape;187;g3bc896615d4_0_421" descr="텍스트, 폰트, 그래픽, 그래픽 디자인이(가) 표시된 사진&#10;&#10;자동 생성된 설명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22142" y="134397"/>
            <a:ext cx="667446" cy="2473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8" name="Google Shape;188;g3bc896615d4_0_421"/>
          <p:cNvGrpSpPr/>
          <p:nvPr/>
        </p:nvGrpSpPr>
        <p:grpSpPr>
          <a:xfrm>
            <a:off x="273234" y="6475723"/>
            <a:ext cx="1927611" cy="225191"/>
            <a:chOff x="485023" y="42255440"/>
            <a:chExt cx="5272460" cy="615950"/>
          </a:xfrm>
        </p:grpSpPr>
        <p:pic>
          <p:nvPicPr>
            <p:cNvPr id="189" name="Google Shape;189;g3bc896615d4_0_42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85023" y="42317670"/>
              <a:ext cx="3067685" cy="4914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" name="Google Shape;190;g3bc896615d4_0_421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744533" y="42255440"/>
              <a:ext cx="2012950" cy="6159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1" name="Google Shape;191;g3bc896615d4_0_421"/>
          <p:cNvSpPr txBox="1"/>
          <p:nvPr/>
        </p:nvSpPr>
        <p:spPr>
          <a:xfrm>
            <a:off x="419501" y="102300"/>
            <a:ext cx="90990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ko-KR"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AgentClinic: a multimodal agent benchmark to evaluate AI in simulated clinical environments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ko-KR" sz="2800">
                <a:solidFill>
                  <a:schemeClr val="dk1"/>
                </a:solidFill>
              </a:rPr>
              <a:t>The Agent Tool box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bc896615d4_0_421"/>
          <p:cNvSpPr txBox="1"/>
          <p:nvPr/>
        </p:nvSpPr>
        <p:spPr>
          <a:xfrm>
            <a:off x="499725" y="1342875"/>
            <a:ext cx="4075500" cy="45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ko-KR" sz="1700">
                <a:solidFill>
                  <a:schemeClr val="dk1"/>
                </a:solidFill>
              </a:rPr>
              <a:t>AgentClinic은 임상 추론을 보조하기 위해 여섯 가지 Agent Tool을 제공</a:t>
            </a:r>
            <a:br>
              <a:rPr lang="ko-KR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ko-KR" sz="1700">
                <a:solidFill>
                  <a:schemeClr val="dk1"/>
                </a:solidFill>
              </a:rPr>
              <a:t>Tool은 정답을 제공하지 않으며,</a:t>
            </a:r>
            <a:br>
              <a:rPr lang="ko-KR" sz="1700">
                <a:solidFill>
                  <a:schemeClr val="dk1"/>
                </a:solidFill>
              </a:rPr>
            </a:br>
            <a:r>
              <a:rPr lang="ko-KR" sz="1700">
                <a:solidFill>
                  <a:schemeClr val="dk1"/>
                </a:solidFill>
              </a:rPr>
              <a:t> 의사의 추론, 정보 탐색,기억 과정을 구조화함</a:t>
            </a:r>
            <a:endParaRPr sz="20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chemeClr val="dk1"/>
                </a:solidFill>
              </a:rPr>
              <a:t>구성</a:t>
            </a:r>
            <a:endParaRPr sz="2000" b="1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ko-KR" sz="1700">
                <a:solidFill>
                  <a:schemeClr val="dk1"/>
                </a:solidFill>
              </a:rPr>
              <a:t>Chain-of-Thought (Zero / One-shot / Reflection)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ko-KR" sz="1700">
                <a:solidFill>
                  <a:schemeClr val="dk1"/>
                </a:solidFill>
              </a:rPr>
              <a:t>Notebook (경험 기반 메모리)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ko-KR" sz="1700">
                <a:solidFill>
                  <a:schemeClr val="dk1"/>
                </a:solidFill>
              </a:rPr>
              <a:t>Adaptive RAG (Textbook / Web)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93" name="Google Shape;193;g3bc896615d4_0_421"/>
          <p:cNvGraphicFramePr/>
          <p:nvPr/>
        </p:nvGraphicFramePr>
        <p:xfrm>
          <a:off x="4731225" y="1167350"/>
          <a:ext cx="6766200" cy="4347050"/>
        </p:xfrm>
        <a:graphic>
          <a:graphicData uri="http://schemas.openxmlformats.org/drawingml/2006/table">
            <a:tbl>
              <a:tblPr>
                <a:noFill/>
                <a:tableStyleId>{EBC92258-191E-403A-88F9-7375E030F135}</a:tableStyleId>
              </a:tblPr>
              <a:tblGrid>
                <a:gridCol w="2430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2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8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>
                          <a:solidFill>
                            <a:schemeClr val="lt1"/>
                          </a:solidFill>
                        </a:rPr>
                        <a:t>Tool</a:t>
                      </a:r>
                      <a:endParaRPr sz="15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87B2B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>
                          <a:solidFill>
                            <a:schemeClr val="lt1"/>
                          </a:solidFill>
                        </a:rPr>
                        <a:t>기능</a:t>
                      </a:r>
                      <a:endParaRPr sz="15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87B2B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>
                          <a:solidFill>
                            <a:schemeClr val="lt1"/>
                          </a:solidFill>
                        </a:rPr>
                        <a:t>임상적 의미</a:t>
                      </a:r>
                      <a:endParaRPr sz="15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87B2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Zero-shot CoT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단계적 추론 유도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기본 진단 논리 전개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One-shot CoT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예시 기반 추론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표준 사고 흐름 학습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Reflection CoT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자기 검토, 수정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진단 오류 감소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1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Notebook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경험 축적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임상 경험 모사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3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Adaptive RAG (Book)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교과서 검색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근거 기반 진단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3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Adaptive RAG (Web)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최신 연구 검색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복잡, 희귀 질환 대응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40" name="Audio 139">
            <a:extLst>
              <a:ext uri="{FF2B5EF4-FFF2-40B4-BE49-F238E27FC236}">
                <a16:creationId xmlns:a16="http://schemas.microsoft.com/office/drawing/2014/main" id="{3078510A-5967-FDC8-41C6-43AB4EF3167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</p:cSld>
  <p:clrMapOvr>
    <a:masterClrMapping/>
  </p:clrMapOvr>
  <p:transition advTm="12046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0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bc896615d4_0_221"/>
          <p:cNvSpPr/>
          <p:nvPr/>
        </p:nvSpPr>
        <p:spPr>
          <a:xfrm>
            <a:off x="0" y="0"/>
            <a:ext cx="162000" cy="856200"/>
          </a:xfrm>
          <a:prstGeom prst="rect">
            <a:avLst/>
          </a:prstGeom>
          <a:solidFill>
            <a:srgbClr val="87B2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`</a:t>
            </a: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0" name="Google Shape;200;g3bc896615d4_0_221"/>
          <p:cNvSpPr/>
          <p:nvPr/>
        </p:nvSpPr>
        <p:spPr>
          <a:xfrm>
            <a:off x="207866" y="0"/>
            <a:ext cx="89400" cy="856200"/>
          </a:xfrm>
          <a:prstGeom prst="rect">
            <a:avLst/>
          </a:prstGeom>
          <a:solidFill>
            <a:srgbClr val="CD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1" name="Google Shape;201;g3bc896615d4_0_221"/>
          <p:cNvSpPr txBox="1">
            <a:spLocks noGrp="1"/>
          </p:cNvSpPr>
          <p:nvPr>
            <p:ph type="sldNum" idx="12"/>
          </p:nvPr>
        </p:nvSpPr>
        <p:spPr>
          <a:xfrm>
            <a:off x="8912665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altLang="ko-KR"/>
              <a:t>7</a:t>
            </a:fld>
            <a:endParaRPr/>
          </a:p>
        </p:txBody>
      </p:sp>
      <p:pic>
        <p:nvPicPr>
          <p:cNvPr id="202" name="Google Shape;202;g3bc896615d4_0_221" descr="텍스트, 폰트, 그래픽, 그래픽 디자인이(가) 표시된 사진&#10;&#10;자동 생성된 설명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22142" y="134397"/>
            <a:ext cx="667446" cy="2473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3" name="Google Shape;203;g3bc896615d4_0_221"/>
          <p:cNvGrpSpPr/>
          <p:nvPr/>
        </p:nvGrpSpPr>
        <p:grpSpPr>
          <a:xfrm>
            <a:off x="273234" y="6475723"/>
            <a:ext cx="1927611" cy="225191"/>
            <a:chOff x="485023" y="42255440"/>
            <a:chExt cx="5272460" cy="615950"/>
          </a:xfrm>
        </p:grpSpPr>
        <p:pic>
          <p:nvPicPr>
            <p:cNvPr id="204" name="Google Shape;204;g3bc896615d4_0_22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85023" y="42317670"/>
              <a:ext cx="3067685" cy="4914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g3bc896615d4_0_221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744533" y="42255440"/>
              <a:ext cx="2012950" cy="6159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g3bc896615d4_0_221"/>
          <p:cNvSpPr txBox="1"/>
          <p:nvPr/>
        </p:nvSpPr>
        <p:spPr>
          <a:xfrm>
            <a:off x="419501" y="102300"/>
            <a:ext cx="87738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ko-KR"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AgentClinic: a multimodal agent benchmark to evaluate AI in simulated clinical environments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ko-KR" sz="2800">
                <a:solidFill>
                  <a:schemeClr val="dk1"/>
                </a:solidFill>
              </a:rPr>
              <a:t>주요 결과(모델)  - Agent toolbox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7" name="Google Shape;207;g3bc896615d4_0_221" title="Screenshot 2026-02-01 at 1.45.53 PM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0" y="1499125"/>
            <a:ext cx="5791201" cy="4080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g3bc896615d4_0_221" title="Screenshot 2026-02-01 at 2.36.28 PM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843900" y="2670125"/>
            <a:ext cx="5555126" cy="2076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Audio 220">
            <a:extLst>
              <a:ext uri="{FF2B5EF4-FFF2-40B4-BE49-F238E27FC236}">
                <a16:creationId xmlns:a16="http://schemas.microsoft.com/office/drawing/2014/main" id="{4D95BC34-F17B-F79E-BC48-222BD9BFD47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</p:cSld>
  <p:clrMapOvr>
    <a:masterClrMapping/>
  </p:clrMapOvr>
  <p:transition advTm="3596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1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bc896615d4_0_84"/>
          <p:cNvSpPr/>
          <p:nvPr/>
        </p:nvSpPr>
        <p:spPr>
          <a:xfrm>
            <a:off x="0" y="0"/>
            <a:ext cx="162000" cy="856200"/>
          </a:xfrm>
          <a:prstGeom prst="rect">
            <a:avLst/>
          </a:prstGeom>
          <a:solidFill>
            <a:srgbClr val="87B2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5" name="Google Shape;215;g3bc896615d4_0_84"/>
          <p:cNvSpPr/>
          <p:nvPr/>
        </p:nvSpPr>
        <p:spPr>
          <a:xfrm>
            <a:off x="207866" y="0"/>
            <a:ext cx="89400" cy="856200"/>
          </a:xfrm>
          <a:prstGeom prst="rect">
            <a:avLst/>
          </a:prstGeom>
          <a:solidFill>
            <a:srgbClr val="CD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6" name="Google Shape;216;g3bc896615d4_0_84"/>
          <p:cNvSpPr txBox="1">
            <a:spLocks noGrp="1"/>
          </p:cNvSpPr>
          <p:nvPr>
            <p:ph type="sldNum" idx="12"/>
          </p:nvPr>
        </p:nvSpPr>
        <p:spPr>
          <a:xfrm>
            <a:off x="8912665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altLang="ko-KR"/>
              <a:t>8</a:t>
            </a:fld>
            <a:endParaRPr/>
          </a:p>
        </p:txBody>
      </p:sp>
      <p:pic>
        <p:nvPicPr>
          <p:cNvPr id="217" name="Google Shape;217;g3bc896615d4_0_84" descr="텍스트, 폰트, 그래픽, 그래픽 디자인이(가) 표시된 사진&#10;&#10;자동 생성된 설명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22142" y="134397"/>
            <a:ext cx="667446" cy="2473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8" name="Google Shape;218;g3bc896615d4_0_84"/>
          <p:cNvGrpSpPr/>
          <p:nvPr/>
        </p:nvGrpSpPr>
        <p:grpSpPr>
          <a:xfrm>
            <a:off x="273234" y="6475723"/>
            <a:ext cx="1927611" cy="225191"/>
            <a:chOff x="485023" y="42255440"/>
            <a:chExt cx="5272460" cy="615950"/>
          </a:xfrm>
        </p:grpSpPr>
        <p:pic>
          <p:nvPicPr>
            <p:cNvPr id="219" name="Google Shape;219;g3bc896615d4_0_8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85023" y="42317670"/>
              <a:ext cx="3067685" cy="4914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0" name="Google Shape;220;g3bc896615d4_0_84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744533" y="42255440"/>
              <a:ext cx="2012950" cy="6159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1" name="Google Shape;221;g3bc896615d4_0_84"/>
          <p:cNvSpPr txBox="1"/>
          <p:nvPr/>
        </p:nvSpPr>
        <p:spPr>
          <a:xfrm>
            <a:off x="419501" y="102300"/>
            <a:ext cx="90990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ko-KR"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AgentClinic: a multimodal agent benchmark to evaluate AI in simulated clinical environments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ko-KR" sz="2800">
                <a:solidFill>
                  <a:schemeClr val="dk1"/>
                </a:solidFill>
              </a:rPr>
              <a:t>Bias 모델링 - Cognitive Bias, Implicit Bias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2" name="Google Shape;222;g3bc896615d4_0_84"/>
          <p:cNvGraphicFramePr/>
          <p:nvPr/>
        </p:nvGraphicFramePr>
        <p:xfrm>
          <a:off x="297275" y="2012350"/>
          <a:ext cx="5823050" cy="4104858"/>
        </p:xfrm>
        <a:graphic>
          <a:graphicData uri="http://schemas.openxmlformats.org/drawingml/2006/table">
            <a:tbl>
              <a:tblPr>
                <a:noFill/>
                <a:tableStyleId>{EBC92258-191E-403A-88F9-7375E030F135}</a:tableStyleId>
              </a:tblPr>
              <a:tblGrid>
                <a:gridCol w="114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6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94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>
                          <a:solidFill>
                            <a:schemeClr val="lt1"/>
                          </a:solidFill>
                        </a:rPr>
                        <a:t>Cognitive Bias</a:t>
                      </a:r>
                      <a:endParaRPr sz="15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87B2B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7B2B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7B2B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7B2B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B2B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>
                          <a:solidFill>
                            <a:schemeClr val="lt1"/>
                          </a:solidFill>
                        </a:rPr>
                        <a:t>Doctor Agent </a:t>
                      </a:r>
                      <a:endParaRPr sz="1500" b="1">
                        <a:solidFill>
                          <a:schemeClr val="lt1"/>
                        </a:solidFill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>
                          <a:solidFill>
                            <a:schemeClr val="lt1"/>
                          </a:solidFill>
                        </a:rPr>
                        <a:t>(의사 역할)</a:t>
                      </a:r>
                      <a:endParaRPr sz="15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87B2B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7B2B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7B2B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7B2B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B2B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>
                          <a:solidFill>
                            <a:schemeClr val="lt1"/>
                          </a:solidFill>
                        </a:rPr>
                        <a:t>Patient Agent </a:t>
                      </a:r>
                      <a:endParaRPr sz="1500" b="1">
                        <a:solidFill>
                          <a:schemeClr val="lt1"/>
                        </a:solidFill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>
                          <a:solidFill>
                            <a:schemeClr val="lt1"/>
                          </a:solidFill>
                        </a:rPr>
                        <a:t>(환자 역할)</a:t>
                      </a:r>
                      <a:endParaRPr sz="15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87B2B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7B2B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7B2B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7B2B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7B2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/>
                        <a:t>Anchoring Bias (고착 편향)</a:t>
                      </a:r>
                      <a:endParaRPr sz="1100" b="1"/>
                    </a:p>
                  </a:txBody>
                  <a:tcPr marL="91425" marR="91425" marT="91425" marB="91425">
                    <a:lnT w="9525" cap="flat" cmpd="sng">
                      <a:solidFill>
                        <a:srgbClr val="87B2B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초기 진단 가설에 집착하여 이후에 제시되는 새로운 증상이나 검사 결과를 충분히 반영하지 않음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87B2B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처음 떠올린 질병이나 걱정에 집착하며, 그에 맞는 증상만 강조하거나 반복적으로 언급함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87B2B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/>
                        <a:t>Recency Bias (최근성 편향)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최근에 진단했던 환자 사례가 현재 환자의 진단 판단에 과도한 영향을 미침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최근에 들은 주변 사례(지인, 뉴스, 인터넷 정보)를 자신의 증상과 동일시함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6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/>
                        <a:t>Self-diagnosis Bias (자가진단 편향)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(직접 적용되기보다는) 환자의 자가진단 주장에 과도하게 동의하거나 이를 충분히 비판적으로 검토하지 못함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스스로 특정 질병을 확신하고, 그에 부합하는 정보만 제공하거나 증상을 왜곡함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23" name="Google Shape;223;g3bc896615d4_0_84"/>
          <p:cNvGraphicFramePr/>
          <p:nvPr/>
        </p:nvGraphicFramePr>
        <p:xfrm>
          <a:off x="6299025" y="1428538"/>
          <a:ext cx="5453650" cy="5258158"/>
        </p:xfrm>
        <a:graphic>
          <a:graphicData uri="http://schemas.openxmlformats.org/drawingml/2006/table">
            <a:tbl>
              <a:tblPr>
                <a:noFill/>
                <a:tableStyleId>{EBC92258-191E-403A-88F9-7375E030F135}</a:tableStyleId>
              </a:tblPr>
              <a:tblGrid>
                <a:gridCol w="1242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2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8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>
                          <a:solidFill>
                            <a:schemeClr val="lt1"/>
                          </a:solidFill>
                        </a:rPr>
                        <a:t>Implicit Bias</a:t>
                      </a:r>
                      <a:endParaRPr sz="15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87B2B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>
                          <a:solidFill>
                            <a:schemeClr val="lt1"/>
                          </a:solidFill>
                        </a:rPr>
                        <a:t>Doctor Agent </a:t>
                      </a:r>
                      <a:endParaRPr sz="1500" b="1">
                        <a:solidFill>
                          <a:schemeClr val="lt1"/>
                        </a:solidFill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>
                          <a:solidFill>
                            <a:schemeClr val="lt1"/>
                          </a:solidFill>
                        </a:rPr>
                        <a:t>(의사 역할)</a:t>
                      </a:r>
                      <a:endParaRPr sz="15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87B2B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>
                          <a:solidFill>
                            <a:schemeClr val="lt1"/>
                          </a:solidFill>
                        </a:rPr>
                        <a:t>Patient Agent </a:t>
                      </a:r>
                      <a:endParaRPr sz="1500" b="1">
                        <a:solidFill>
                          <a:schemeClr val="lt1"/>
                        </a:solidFill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>
                          <a:solidFill>
                            <a:schemeClr val="lt1"/>
                          </a:solidFill>
                        </a:rPr>
                        <a:t>(환자 역할)</a:t>
                      </a:r>
                      <a:endParaRPr sz="15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87B2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8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/>
                        <a:t>Gender Bias (성별 편향)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환자의 성별에 따라 증상의 심각도나 진단 우선순위를 다르게 판단함 (예: 여성 환자의 통증을 과소평가)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의사의 성별에 따라 신뢰도와 협조도가 달라짐 (예: 특정 성별 의사를 덜 신뢰)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8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/>
                        <a:t>Race Bias (인종 편향)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특정 인종 환자에 대해 검사 요청을 줄이거나 고정관념에 기반한 진단 가설을 세움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의사의 인종에 따라 거리감을 느끼거나 정보를 충분히 제공하지 않음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8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/>
                        <a:t>Cultural Bias (문화적 편향)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환자의 문화적 표현 방식이나 신념을 오해하여 증상을 잘못 해석하거나 병리화함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문화적 신념(정신질환 낙인, 종교적 이유 등)으로 증상 표현을 회피하거나 치료를 거부함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8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/>
                        <a:t>Education Bias (교육 수준 편향)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학력이 낮은 환자에게 설명을 단순화하거나 충분한 정보를 제공하지 않음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의사가 자신의 말을 이해하지 못할 것이라 판단하고 질문이나 상세 설명을 줄임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1" name="Audio 60">
            <a:extLst>
              <a:ext uri="{FF2B5EF4-FFF2-40B4-BE49-F238E27FC236}">
                <a16:creationId xmlns:a16="http://schemas.microsoft.com/office/drawing/2014/main" id="{C6807051-FD6C-BEBA-5D3E-83687ABD90E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</p:cSld>
  <p:clrMapOvr>
    <a:masterClrMapping/>
  </p:clrMapOvr>
  <p:transition advTm="56046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1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bc896615d4_0_135"/>
          <p:cNvSpPr/>
          <p:nvPr/>
        </p:nvSpPr>
        <p:spPr>
          <a:xfrm>
            <a:off x="0" y="0"/>
            <a:ext cx="162000" cy="856200"/>
          </a:xfrm>
          <a:prstGeom prst="rect">
            <a:avLst/>
          </a:prstGeom>
          <a:solidFill>
            <a:srgbClr val="87B2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0" name="Google Shape;230;g3bc896615d4_0_135"/>
          <p:cNvSpPr/>
          <p:nvPr/>
        </p:nvSpPr>
        <p:spPr>
          <a:xfrm>
            <a:off x="207866" y="0"/>
            <a:ext cx="89400" cy="856200"/>
          </a:xfrm>
          <a:prstGeom prst="rect">
            <a:avLst/>
          </a:prstGeom>
          <a:solidFill>
            <a:srgbClr val="CD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1" name="Google Shape;231;g3bc896615d4_0_135"/>
          <p:cNvSpPr txBox="1">
            <a:spLocks noGrp="1"/>
          </p:cNvSpPr>
          <p:nvPr>
            <p:ph type="sldNum" idx="12"/>
          </p:nvPr>
        </p:nvSpPr>
        <p:spPr>
          <a:xfrm>
            <a:off x="8912665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altLang="ko-KR"/>
              <a:t>9</a:t>
            </a:fld>
            <a:endParaRPr/>
          </a:p>
        </p:txBody>
      </p:sp>
      <p:pic>
        <p:nvPicPr>
          <p:cNvPr id="232" name="Google Shape;232;g3bc896615d4_0_135" descr="텍스트, 폰트, 그래픽, 그래픽 디자인이(가) 표시된 사진&#10;&#10;자동 생성된 설명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22142" y="134397"/>
            <a:ext cx="667446" cy="2473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3" name="Google Shape;233;g3bc896615d4_0_135"/>
          <p:cNvGrpSpPr/>
          <p:nvPr/>
        </p:nvGrpSpPr>
        <p:grpSpPr>
          <a:xfrm>
            <a:off x="273234" y="6475723"/>
            <a:ext cx="1927611" cy="225191"/>
            <a:chOff x="485023" y="42255440"/>
            <a:chExt cx="5272460" cy="615950"/>
          </a:xfrm>
        </p:grpSpPr>
        <p:pic>
          <p:nvPicPr>
            <p:cNvPr id="234" name="Google Shape;234;g3bc896615d4_0_13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85023" y="42317670"/>
              <a:ext cx="3067685" cy="4914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5" name="Google Shape;235;g3bc896615d4_0_135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744533" y="42255440"/>
              <a:ext cx="2012950" cy="6159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6" name="Google Shape;236;g3bc896615d4_0_135"/>
          <p:cNvSpPr txBox="1"/>
          <p:nvPr/>
        </p:nvSpPr>
        <p:spPr>
          <a:xfrm>
            <a:off x="419501" y="102300"/>
            <a:ext cx="90990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ko-KR"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AgentClinic: a multimodal agent benchmark to evaluate AI in simulated clinical environments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ko-KR" sz="2800">
                <a:solidFill>
                  <a:schemeClr val="dk1"/>
                </a:solidFill>
              </a:rPr>
              <a:t>Bias 가 진단 정확도에 미치는 영향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7" name="Google Shape;237;g3bc896615d4_0_13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122450" y="856200"/>
            <a:ext cx="7947088" cy="36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g3bc896615d4_0_13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686050" y="4391725"/>
            <a:ext cx="68199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Audio 50">
            <a:extLst>
              <a:ext uri="{FF2B5EF4-FFF2-40B4-BE49-F238E27FC236}">
                <a16:creationId xmlns:a16="http://schemas.microsoft.com/office/drawing/2014/main" id="{DC955C16-F0DC-8A00-46F0-EBDD9723878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</p:cSld>
  <p:clrMapOvr>
    <a:masterClrMapping/>
  </p:clrMapOvr>
  <p:transition advTm="10184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1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bc896615d4_0_527"/>
          <p:cNvSpPr/>
          <p:nvPr/>
        </p:nvSpPr>
        <p:spPr>
          <a:xfrm>
            <a:off x="0" y="0"/>
            <a:ext cx="162000" cy="856200"/>
          </a:xfrm>
          <a:prstGeom prst="rect">
            <a:avLst/>
          </a:prstGeom>
          <a:solidFill>
            <a:srgbClr val="87B2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5" name="Google Shape;245;g3bc896615d4_0_527"/>
          <p:cNvSpPr/>
          <p:nvPr/>
        </p:nvSpPr>
        <p:spPr>
          <a:xfrm>
            <a:off x="207866" y="0"/>
            <a:ext cx="89400" cy="856200"/>
          </a:xfrm>
          <a:prstGeom prst="rect">
            <a:avLst/>
          </a:prstGeom>
          <a:solidFill>
            <a:srgbClr val="CD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6" name="Google Shape;246;g3bc896615d4_0_527"/>
          <p:cNvSpPr txBox="1">
            <a:spLocks noGrp="1"/>
          </p:cNvSpPr>
          <p:nvPr>
            <p:ph type="sldNum" idx="12"/>
          </p:nvPr>
        </p:nvSpPr>
        <p:spPr>
          <a:xfrm>
            <a:off x="8912665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altLang="ko-KR"/>
              <a:t>10</a:t>
            </a:fld>
            <a:endParaRPr/>
          </a:p>
        </p:txBody>
      </p:sp>
      <p:pic>
        <p:nvPicPr>
          <p:cNvPr id="247" name="Google Shape;247;g3bc896615d4_0_527" descr="텍스트, 폰트, 그래픽, 그래픽 디자인이(가) 표시된 사진&#10;&#10;자동 생성된 설명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22142" y="134397"/>
            <a:ext cx="667446" cy="2473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8" name="Google Shape;248;g3bc896615d4_0_527"/>
          <p:cNvGrpSpPr/>
          <p:nvPr/>
        </p:nvGrpSpPr>
        <p:grpSpPr>
          <a:xfrm>
            <a:off x="273234" y="6475723"/>
            <a:ext cx="1927611" cy="225191"/>
            <a:chOff x="485023" y="42255440"/>
            <a:chExt cx="5272460" cy="615950"/>
          </a:xfrm>
        </p:grpSpPr>
        <p:pic>
          <p:nvPicPr>
            <p:cNvPr id="249" name="Google Shape;249;g3bc896615d4_0_52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85023" y="42317670"/>
              <a:ext cx="3067685" cy="4914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0" name="Google Shape;250;g3bc896615d4_0_527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744533" y="42255440"/>
              <a:ext cx="2012950" cy="6159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1" name="Google Shape;251;g3bc896615d4_0_527"/>
          <p:cNvSpPr txBox="1"/>
          <p:nvPr/>
        </p:nvSpPr>
        <p:spPr>
          <a:xfrm>
            <a:off x="419501" y="102300"/>
            <a:ext cx="90990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ko-KR"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AgentClinic: a multimodal agent benchmark to evaluate AI in simulated clinical environments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ko-KR" sz="2800">
                <a:solidFill>
                  <a:schemeClr val="dk1"/>
                </a:solidFill>
              </a:rPr>
              <a:t>Dataset Construction in AgentClinic Benchmark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3bc896615d4_0_527"/>
          <p:cNvSpPr txBox="1"/>
          <p:nvPr/>
        </p:nvSpPr>
        <p:spPr>
          <a:xfrm>
            <a:off x="419500" y="839850"/>
            <a:ext cx="5800500" cy="5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-KR" sz="1600" b="1">
                <a:solidFill>
                  <a:schemeClr val="dk1"/>
                </a:solidFill>
              </a:rPr>
              <a:t>Data Sources</a:t>
            </a:r>
            <a:endParaRPr sz="1600"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-KR" sz="1200" b="1">
                <a:solidFill>
                  <a:schemeClr val="dk1"/>
                </a:solidFill>
              </a:rPr>
              <a:t>MedQA (USMLE cases)</a:t>
            </a:r>
            <a:endParaRPr sz="1200"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-KR" sz="1200" b="1">
                <a:solidFill>
                  <a:schemeClr val="dk1"/>
                </a:solidFill>
              </a:rPr>
              <a:t>MIMIC-IV (Real-world EHR data)</a:t>
            </a:r>
            <a:endParaRPr sz="1200"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-KR" sz="1200" b="1">
                <a:solidFill>
                  <a:schemeClr val="dk1"/>
                </a:solidFill>
              </a:rPr>
              <a:t>NEJM Case Challenges (Multimodal clinical cases)</a:t>
            </a: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-KR" sz="1600" b="1">
                <a:solidFill>
                  <a:schemeClr val="dk1"/>
                </a:solidFill>
              </a:rPr>
              <a:t>AgentClinic Dataset 구성</a:t>
            </a:r>
            <a:endParaRPr sz="1600"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-KR" sz="1200" b="1">
                <a:solidFill>
                  <a:schemeClr val="dk1"/>
                </a:solidFill>
              </a:rPr>
              <a:t>A</a:t>
            </a:r>
            <a:r>
              <a:rPr lang="ko-KR" sz="1100" b="1">
                <a:solidFill>
                  <a:schemeClr val="dk1"/>
                </a:solidFill>
              </a:rPr>
              <a:t>gentClinic-NEJM</a:t>
            </a:r>
            <a:endParaRPr sz="1100" b="1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-KR" sz="1100">
                <a:solidFill>
                  <a:schemeClr val="dk1"/>
                </a:solidFill>
              </a:rPr>
              <a:t>텍스트와 의료 영상(Text + Medical Images)을 포함한 120개의 멀티모달 임상 사례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-KR" sz="1100">
                <a:solidFill>
                  <a:schemeClr val="dk1"/>
                </a:solidFill>
              </a:rPr>
              <a:t>영상 해석과 환자와의 대화를 통해 진단을 수행하는 개방형(open-ended) 진단 과제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-KR" sz="1100" b="1">
                <a:solidFill>
                  <a:schemeClr val="dk1"/>
                </a:solidFill>
              </a:rPr>
              <a:t>AgentClinic-MedQA</a:t>
            </a:r>
            <a:endParaRPr sz="1100" b="1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-KR" sz="1100">
                <a:solidFill>
                  <a:schemeClr val="dk1"/>
                </a:solidFill>
              </a:rPr>
              <a:t>USMLE 문제(MedQA)를 기반으로 구성된 215개의 텍스트 기반 임상 시뮬레이션 사례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-KR" sz="1100">
                <a:solidFill>
                  <a:schemeClr val="dk1"/>
                </a:solidFill>
              </a:rPr>
              <a:t>구조화된 환자 정보를 활용한 진단 과제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-KR" sz="1100" b="1">
                <a:solidFill>
                  <a:schemeClr val="dk1"/>
                </a:solidFill>
              </a:rPr>
              <a:t>AgentClinic-MIMIC-IV</a:t>
            </a:r>
            <a:endParaRPr sz="1100" b="1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-KR" sz="1100">
                <a:solidFill>
                  <a:schemeClr val="dk1"/>
                </a:solidFill>
              </a:rPr>
              <a:t>실제 전자의무기록(EHR) 데이터인 MIMIC-IV에서 추출한 200개의 텍스트 기반 임상 사례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-KR" sz="1100">
                <a:solidFill>
                  <a:schemeClr val="dk1"/>
                </a:solidFill>
              </a:rPr>
              <a:t>현실 임상 환경을 반영한 진단 시나리오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-KR" sz="1100" b="1">
                <a:solidFill>
                  <a:schemeClr val="dk1"/>
                </a:solidFill>
              </a:rPr>
              <a:t>AgentClinic-Spec</a:t>
            </a:r>
            <a:endParaRPr sz="1100" b="1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-KR" sz="1100">
                <a:solidFill>
                  <a:schemeClr val="dk1"/>
                </a:solidFill>
              </a:rPr>
              <a:t>소아과, 정신과, 내과 등 9개 전문과 진단 사례로 구성된 260개 케이스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-KR" sz="1100">
                <a:solidFill>
                  <a:schemeClr val="dk1"/>
                </a:solidFill>
              </a:rPr>
              <a:t>전문 분야별 진단 능력 평가 목적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-KR" sz="1100" b="1">
                <a:solidFill>
                  <a:schemeClr val="dk1"/>
                </a:solidFill>
              </a:rPr>
              <a:t>AgentClinic-Lang</a:t>
            </a:r>
            <a:endParaRPr sz="1100" b="1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-KR" sz="1100">
                <a:solidFill>
                  <a:schemeClr val="dk1"/>
                </a:solidFill>
              </a:rPr>
              <a:t>AgentClinic-MedQA 사례를 7개 언어로 번역한 749개의 다국어 임상 사례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-KR" sz="1100">
                <a:solidFill>
                  <a:schemeClr val="dk1"/>
                </a:solidFill>
              </a:rPr>
              <a:t>지원 언어: 영어, 중국어, 힌디어, 한국어, 스페인어, 프랑스어, 페르시아어</a:t>
            </a: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53" name="Google Shape;253;g3bc896615d4_0_527" title="Screenshot 2026-02-01 at 2.38.40 PM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95990" y="783950"/>
            <a:ext cx="5800638" cy="5839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Audio 53">
            <a:extLst>
              <a:ext uri="{FF2B5EF4-FFF2-40B4-BE49-F238E27FC236}">
                <a16:creationId xmlns:a16="http://schemas.microsoft.com/office/drawing/2014/main" id="{ACD18F04-D5C8-15AB-10E1-347464C5666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</p:cSld>
  <p:clrMapOvr>
    <a:masterClrMapping/>
  </p:clrMapOvr>
  <p:transition advTm="83159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4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bc896615d4_0_99"/>
          <p:cNvSpPr/>
          <p:nvPr/>
        </p:nvSpPr>
        <p:spPr>
          <a:xfrm>
            <a:off x="0" y="0"/>
            <a:ext cx="162000" cy="856200"/>
          </a:xfrm>
          <a:prstGeom prst="rect">
            <a:avLst/>
          </a:prstGeom>
          <a:solidFill>
            <a:srgbClr val="87B2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0" name="Google Shape;260;g3bc896615d4_0_99"/>
          <p:cNvSpPr/>
          <p:nvPr/>
        </p:nvSpPr>
        <p:spPr>
          <a:xfrm>
            <a:off x="207866" y="0"/>
            <a:ext cx="89400" cy="856200"/>
          </a:xfrm>
          <a:prstGeom prst="rect">
            <a:avLst/>
          </a:prstGeom>
          <a:solidFill>
            <a:srgbClr val="CD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1" name="Google Shape;261;g3bc896615d4_0_99"/>
          <p:cNvSpPr txBox="1">
            <a:spLocks noGrp="1"/>
          </p:cNvSpPr>
          <p:nvPr>
            <p:ph type="sldNum" idx="12"/>
          </p:nvPr>
        </p:nvSpPr>
        <p:spPr>
          <a:xfrm>
            <a:off x="8912665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altLang="ko-KR"/>
              <a:t>11</a:t>
            </a:fld>
            <a:endParaRPr/>
          </a:p>
        </p:txBody>
      </p:sp>
      <p:pic>
        <p:nvPicPr>
          <p:cNvPr id="262" name="Google Shape;262;g3bc896615d4_0_99" descr="텍스트, 폰트, 그래픽, 그래픽 디자인이(가) 표시된 사진&#10;&#10;자동 생성된 설명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22142" y="134397"/>
            <a:ext cx="667446" cy="2473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3" name="Google Shape;263;g3bc896615d4_0_99"/>
          <p:cNvGrpSpPr/>
          <p:nvPr/>
        </p:nvGrpSpPr>
        <p:grpSpPr>
          <a:xfrm>
            <a:off x="273234" y="6475723"/>
            <a:ext cx="1927611" cy="225191"/>
            <a:chOff x="485023" y="42255440"/>
            <a:chExt cx="5272460" cy="615950"/>
          </a:xfrm>
        </p:grpSpPr>
        <p:pic>
          <p:nvPicPr>
            <p:cNvPr id="264" name="Google Shape;264;g3bc896615d4_0_9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85023" y="42317670"/>
              <a:ext cx="3067685" cy="4914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5" name="Google Shape;265;g3bc896615d4_0_99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744533" y="42255440"/>
              <a:ext cx="2012950" cy="6159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6" name="Google Shape;266;g3bc896615d4_0_99"/>
          <p:cNvSpPr txBox="1"/>
          <p:nvPr/>
        </p:nvSpPr>
        <p:spPr>
          <a:xfrm>
            <a:off x="419501" y="102300"/>
            <a:ext cx="90990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ko-KR"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AgentClinic: a multimodal agent benchmark to evaluate AI in simulated clinical environments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ko-KR" sz="2800">
                <a:solidFill>
                  <a:schemeClr val="dk1"/>
                </a:solidFill>
              </a:rPr>
              <a:t>Setting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3bc896615d4_0_99"/>
          <p:cNvSpPr txBox="1"/>
          <p:nvPr/>
        </p:nvSpPr>
        <p:spPr>
          <a:xfrm>
            <a:off x="601125" y="856500"/>
            <a:ext cx="4005300" cy="52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-KR" sz="1500" b="1">
                <a:solidFill>
                  <a:schemeClr val="dk1"/>
                </a:solidFill>
              </a:rPr>
              <a:t>평가 대상 모델 (Models Evaluated)</a:t>
            </a:r>
            <a:endParaRPr sz="15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-KR" sz="1100" b="1">
                <a:solidFill>
                  <a:schemeClr val="dk1"/>
                </a:solidFill>
              </a:rPr>
              <a:t>Claude 3.5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-KR" sz="1100" b="1">
                <a:solidFill>
                  <a:schemeClr val="dk1"/>
                </a:solidFill>
              </a:rPr>
              <a:t>GPT-4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-KR" sz="1100" b="1">
                <a:solidFill>
                  <a:schemeClr val="dk1"/>
                </a:solidFill>
              </a:rPr>
              <a:t>GPT-4o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-KR" sz="1100" b="1">
                <a:solidFill>
                  <a:schemeClr val="dk1"/>
                </a:solidFill>
              </a:rPr>
              <a:t>Llama 3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-KR" sz="1100" b="1">
                <a:solidFill>
                  <a:schemeClr val="dk1"/>
                </a:solidFill>
              </a:rPr>
              <a:t>Mixtral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-KR" sz="1100" b="1">
                <a:solidFill>
                  <a:schemeClr val="dk1"/>
                </a:solidFill>
              </a:rPr>
              <a:t>Human physicians (의사 집단)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-KR" sz="1500" b="1">
                <a:solidFill>
                  <a:schemeClr val="dk1"/>
                </a:solidFill>
              </a:rPr>
              <a:t>평가 프로토콜 (Evaluation Protocol)</a:t>
            </a:r>
            <a:endParaRPr sz="1500"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-KR" sz="1200">
                <a:solidFill>
                  <a:schemeClr val="dk1"/>
                </a:solidFill>
              </a:rPr>
              <a:t>진단 과정에서 최대 20번의 상호작용(interactions)만 허용</a:t>
            </a:r>
            <a:endParaRPr sz="1200">
              <a:solidFill>
                <a:schemeClr val="dk1"/>
              </a:solidFill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ko-KR" sz="1200">
                <a:solidFill>
                  <a:schemeClr val="dk1"/>
                </a:solidFill>
              </a:rPr>
              <a:t>환자 질문 + 추가 정보 요청(검사 요청 포함) 모두 interaction으로 카운트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-KR" sz="1200">
                <a:solidFill>
                  <a:schemeClr val="dk1"/>
                </a:solidFill>
              </a:rPr>
              <a:t>제한된 상호작용 내에서 최종 진단을 제시해야 함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-KR" sz="1500" b="1">
                <a:solidFill>
                  <a:schemeClr val="dk1"/>
                </a:solidFill>
              </a:rPr>
              <a:t>평가 지표 (Metrics)</a:t>
            </a:r>
            <a:endParaRPr sz="1500"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-KR" sz="1200" b="1">
                <a:solidFill>
                  <a:schemeClr val="dk1"/>
                </a:solidFill>
              </a:rPr>
              <a:t>Diagnostic accuracy (진단 정확도)</a:t>
            </a:r>
            <a:endParaRPr sz="1200"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-KR" sz="1200" b="1">
                <a:solidFill>
                  <a:schemeClr val="dk1"/>
                </a:solidFill>
              </a:rPr>
              <a:t>Patient confidence (환자 신뢰/확신도)</a:t>
            </a:r>
            <a:endParaRPr sz="1200"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-KR" sz="1200" b="1">
                <a:solidFill>
                  <a:schemeClr val="dk1"/>
                </a:solidFill>
              </a:rPr>
              <a:t>Compliance (환자 순응도/협조도)</a:t>
            </a:r>
            <a:endParaRPr sz="1200"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-KR" sz="1200" b="1">
                <a:solidFill>
                  <a:schemeClr val="dk1"/>
                </a:solidFill>
              </a:rPr>
              <a:t>Consultation rating (상담 평가/만족도)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  <p:pic>
        <p:nvPicPr>
          <p:cNvPr id="268" name="Google Shape;268;g3bc896615d4_0_99" title="Screenshot 2026-02-01 at 1.41.39 PM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06425" y="509200"/>
            <a:ext cx="7046323" cy="3900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g3bc896615d4_0_99" title="Screenshot 2026-02-01 at 1.41.48 PM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19775" y="4409550"/>
            <a:ext cx="5213584" cy="231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Audio 27">
            <a:extLst>
              <a:ext uri="{FF2B5EF4-FFF2-40B4-BE49-F238E27FC236}">
                <a16:creationId xmlns:a16="http://schemas.microsoft.com/office/drawing/2014/main" id="{86E17610-08A6-501B-9293-97229FD9D10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</p:cSld>
  <p:clrMapOvr>
    <a:masterClrMapping/>
  </p:clrMapOvr>
  <p:transition advTm="66466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8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bc896615d4_0_543"/>
          <p:cNvSpPr/>
          <p:nvPr/>
        </p:nvSpPr>
        <p:spPr>
          <a:xfrm>
            <a:off x="0" y="0"/>
            <a:ext cx="162000" cy="856200"/>
          </a:xfrm>
          <a:prstGeom prst="rect">
            <a:avLst/>
          </a:prstGeom>
          <a:solidFill>
            <a:srgbClr val="87B2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6" name="Google Shape;276;g3bc896615d4_0_543"/>
          <p:cNvSpPr/>
          <p:nvPr/>
        </p:nvSpPr>
        <p:spPr>
          <a:xfrm>
            <a:off x="207866" y="0"/>
            <a:ext cx="89400" cy="856200"/>
          </a:xfrm>
          <a:prstGeom prst="rect">
            <a:avLst/>
          </a:prstGeom>
          <a:solidFill>
            <a:srgbClr val="CD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7" name="Google Shape;277;g3bc896615d4_0_543"/>
          <p:cNvSpPr txBox="1">
            <a:spLocks noGrp="1"/>
          </p:cNvSpPr>
          <p:nvPr>
            <p:ph type="sldNum" idx="12"/>
          </p:nvPr>
        </p:nvSpPr>
        <p:spPr>
          <a:xfrm>
            <a:off x="8912665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altLang="ko-KR"/>
              <a:t>12</a:t>
            </a:fld>
            <a:endParaRPr/>
          </a:p>
        </p:txBody>
      </p:sp>
      <p:pic>
        <p:nvPicPr>
          <p:cNvPr id="278" name="Google Shape;278;g3bc896615d4_0_543" descr="텍스트, 폰트, 그래픽, 그래픽 디자인이(가) 표시된 사진&#10;&#10;자동 생성된 설명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22142" y="134397"/>
            <a:ext cx="667446" cy="2473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9" name="Google Shape;279;g3bc896615d4_0_543"/>
          <p:cNvGrpSpPr/>
          <p:nvPr/>
        </p:nvGrpSpPr>
        <p:grpSpPr>
          <a:xfrm>
            <a:off x="273234" y="6475723"/>
            <a:ext cx="1927611" cy="225191"/>
            <a:chOff x="485023" y="42255440"/>
            <a:chExt cx="5272460" cy="615950"/>
          </a:xfrm>
        </p:grpSpPr>
        <p:pic>
          <p:nvPicPr>
            <p:cNvPr id="280" name="Google Shape;280;g3bc896615d4_0_54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85023" y="42317670"/>
              <a:ext cx="3067685" cy="4914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1" name="Google Shape;281;g3bc896615d4_0_543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744533" y="42255440"/>
              <a:ext cx="2012950" cy="6159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2" name="Google Shape;282;g3bc896615d4_0_543"/>
          <p:cNvSpPr txBox="1"/>
          <p:nvPr/>
        </p:nvSpPr>
        <p:spPr>
          <a:xfrm>
            <a:off x="419501" y="102300"/>
            <a:ext cx="98280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ko-KR"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AgentClinic: a multimodal agent benchmark to evaluate AI in simulated clinical environments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 sz="2800">
                <a:solidFill>
                  <a:schemeClr val="dk1"/>
                </a:solidFill>
              </a:rPr>
              <a:t>Evaluation Metrics in AgentClinic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g3bc896615d4_0_543"/>
          <p:cNvSpPr/>
          <p:nvPr/>
        </p:nvSpPr>
        <p:spPr>
          <a:xfrm>
            <a:off x="733900" y="983725"/>
            <a:ext cx="10588200" cy="5028000"/>
          </a:xfrm>
          <a:prstGeom prst="roundRect">
            <a:avLst>
              <a:gd name="adj" fmla="val 6791"/>
            </a:avLst>
          </a:prstGeom>
          <a:solidFill>
            <a:schemeClr val="lt1"/>
          </a:solidFill>
          <a:ln w="38100" cap="flat" cmpd="sng">
            <a:solidFill>
              <a:srgbClr val="87B2B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914400" lvl="1" indent="-349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ko-KR" sz="1900" b="1">
                <a:solidFill>
                  <a:schemeClr val="dk1"/>
                </a:solidFill>
              </a:rPr>
              <a:t>Diagnostic Accuracy (진단 정확도)</a:t>
            </a:r>
            <a:endParaRPr sz="1900" b="1">
              <a:solidFill>
                <a:schemeClr val="dk1"/>
              </a:solidFill>
            </a:endParaRPr>
          </a:p>
          <a:p>
            <a:pPr marL="1371600" lvl="2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romanLcPeriod"/>
            </a:pPr>
            <a:r>
              <a:rPr lang="ko-KR" sz="1600">
                <a:solidFill>
                  <a:schemeClr val="dk1"/>
                </a:solidFill>
              </a:rPr>
              <a:t>Doctor Agent의 최종 진단 결과를 Ground Truth 질병과 비교하여 평가</a:t>
            </a:r>
            <a:endParaRPr sz="1600">
              <a:solidFill>
                <a:schemeClr val="dk1"/>
              </a:solidFill>
            </a:endParaRPr>
          </a:p>
          <a:p>
            <a:pPr marL="1371600" lvl="2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romanLcPeriod"/>
            </a:pPr>
            <a:r>
              <a:rPr lang="ko-KR" sz="1600">
                <a:solidFill>
                  <a:schemeClr val="dk1"/>
                </a:solidFill>
              </a:rPr>
              <a:t>Moderator Agent에 의해 자동 판정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ko-KR" sz="1900" b="1">
                <a:solidFill>
                  <a:schemeClr val="dk1"/>
                </a:solidFill>
              </a:rPr>
              <a:t>Patient Confidence (환자 신뢰/확신도)</a:t>
            </a:r>
            <a:endParaRPr sz="1900" b="1">
              <a:solidFill>
                <a:schemeClr val="dk1"/>
              </a:solidFill>
            </a:endParaRPr>
          </a:p>
          <a:p>
            <a:pPr marL="1371600" lvl="2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romanLcPeriod"/>
            </a:pPr>
            <a:r>
              <a:rPr lang="ko-KR" sz="1600">
                <a:solidFill>
                  <a:schemeClr val="dk1"/>
                </a:solidFill>
              </a:rPr>
              <a:t>진단 및 설명 이후 환자가 느끼는 신뢰 수준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ko-KR" sz="1900" b="1">
                <a:solidFill>
                  <a:schemeClr val="dk1"/>
                </a:solidFill>
              </a:rPr>
              <a:t>Compliance (환자 순응도/협조도)</a:t>
            </a:r>
            <a:endParaRPr sz="1900" b="1">
              <a:solidFill>
                <a:schemeClr val="dk1"/>
              </a:solidFill>
            </a:endParaRPr>
          </a:p>
          <a:p>
            <a:pPr marL="1371600" lvl="2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romanLcPeriod"/>
            </a:pPr>
            <a:r>
              <a:rPr lang="ko-KR" sz="1600">
                <a:solidFill>
                  <a:schemeClr val="dk1"/>
                </a:solidFill>
              </a:rPr>
              <a:t>환자가 의사의 질문, 검사 요청에 얼마나 협조적으로 반응하는지 평가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ko-KR" sz="1900" b="1">
                <a:solidFill>
                  <a:schemeClr val="dk1"/>
                </a:solidFill>
              </a:rPr>
              <a:t>Consultation Rating (상담 평가/만족도)</a:t>
            </a:r>
            <a:endParaRPr sz="1900" b="1">
              <a:solidFill>
                <a:schemeClr val="dk1"/>
              </a:solidFill>
            </a:endParaRPr>
          </a:p>
          <a:p>
            <a:pPr marL="1371600" lvl="2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romanLcPeriod"/>
            </a:pPr>
            <a:r>
              <a:rPr lang="ko-KR" sz="1600">
                <a:solidFill>
                  <a:schemeClr val="dk1"/>
                </a:solidFill>
              </a:rPr>
              <a:t>단일 발언이 아닌 전체 진료 대화 흐름을 종합하여 상담 품질 평가</a:t>
            </a:r>
            <a:br>
              <a:rPr lang="ko-KR" sz="1600">
                <a:solidFill>
                  <a:schemeClr val="dk1"/>
                </a:solidFill>
              </a:rPr>
            </a:br>
            <a:endParaRPr sz="1600" b="1">
              <a:solidFill>
                <a:schemeClr val="dk1"/>
              </a:solidFill>
            </a:endParaRPr>
          </a:p>
        </p:txBody>
      </p:sp>
      <p:pic>
        <p:nvPicPr>
          <p:cNvPr id="34" name="Audio 33">
            <a:extLst>
              <a:ext uri="{FF2B5EF4-FFF2-40B4-BE49-F238E27FC236}">
                <a16:creationId xmlns:a16="http://schemas.microsoft.com/office/drawing/2014/main" id="{B0D19BE1-C0CC-518D-0353-997A2F759DF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</p:cSld>
  <p:clrMapOvr>
    <a:masterClrMapping/>
  </p:clrMapOvr>
  <p:transition advTm="78576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4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bc896615d4_0_561"/>
          <p:cNvSpPr/>
          <p:nvPr/>
        </p:nvSpPr>
        <p:spPr>
          <a:xfrm>
            <a:off x="0" y="0"/>
            <a:ext cx="162000" cy="856200"/>
          </a:xfrm>
          <a:prstGeom prst="rect">
            <a:avLst/>
          </a:prstGeom>
          <a:solidFill>
            <a:srgbClr val="87B2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0" name="Google Shape;290;g3bc896615d4_0_561"/>
          <p:cNvSpPr/>
          <p:nvPr/>
        </p:nvSpPr>
        <p:spPr>
          <a:xfrm>
            <a:off x="207866" y="0"/>
            <a:ext cx="89400" cy="856200"/>
          </a:xfrm>
          <a:prstGeom prst="rect">
            <a:avLst/>
          </a:prstGeom>
          <a:solidFill>
            <a:srgbClr val="CD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1" name="Google Shape;291;g3bc896615d4_0_561"/>
          <p:cNvSpPr txBox="1">
            <a:spLocks noGrp="1"/>
          </p:cNvSpPr>
          <p:nvPr>
            <p:ph type="sldNum" idx="12"/>
          </p:nvPr>
        </p:nvSpPr>
        <p:spPr>
          <a:xfrm>
            <a:off x="8912665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altLang="ko-KR"/>
              <a:t>13</a:t>
            </a:fld>
            <a:endParaRPr/>
          </a:p>
        </p:txBody>
      </p:sp>
      <p:pic>
        <p:nvPicPr>
          <p:cNvPr id="292" name="Google Shape;292;g3bc896615d4_0_561" descr="텍스트, 폰트, 그래픽, 그래픽 디자인이(가) 표시된 사진&#10;&#10;자동 생성된 설명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22142" y="134397"/>
            <a:ext cx="667446" cy="2473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3" name="Google Shape;293;g3bc896615d4_0_561"/>
          <p:cNvGrpSpPr/>
          <p:nvPr/>
        </p:nvGrpSpPr>
        <p:grpSpPr>
          <a:xfrm>
            <a:off x="273234" y="6475723"/>
            <a:ext cx="1927611" cy="225191"/>
            <a:chOff x="485023" y="42255440"/>
            <a:chExt cx="5272460" cy="615950"/>
          </a:xfrm>
        </p:grpSpPr>
        <p:pic>
          <p:nvPicPr>
            <p:cNvPr id="294" name="Google Shape;294;g3bc896615d4_0_56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85023" y="42317670"/>
              <a:ext cx="3067685" cy="4914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5" name="Google Shape;295;g3bc896615d4_0_561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744533" y="42255440"/>
              <a:ext cx="2012950" cy="6159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6" name="Google Shape;296;g3bc896615d4_0_561"/>
          <p:cNvSpPr txBox="1"/>
          <p:nvPr/>
        </p:nvSpPr>
        <p:spPr>
          <a:xfrm>
            <a:off x="419501" y="102300"/>
            <a:ext cx="98280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ko-KR"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AgentClinic: a multimodal agent benchmark to evaluate AI in simulated clinical environments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 sz="2800">
                <a:solidFill>
                  <a:schemeClr val="dk1"/>
                </a:solidFill>
              </a:rPr>
              <a:t>Why Accuracy Is Used as the Primary Metric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3bc896615d4_0_561"/>
          <p:cNvSpPr/>
          <p:nvPr/>
        </p:nvSpPr>
        <p:spPr>
          <a:xfrm>
            <a:off x="733900" y="983725"/>
            <a:ext cx="10588200" cy="5028000"/>
          </a:xfrm>
          <a:prstGeom prst="roundRect">
            <a:avLst>
              <a:gd name="adj" fmla="val 6791"/>
            </a:avLst>
          </a:prstGeom>
          <a:solidFill>
            <a:schemeClr val="lt1"/>
          </a:solidFill>
          <a:ln w="38100" cap="flat" cmpd="sng">
            <a:solidFill>
              <a:srgbClr val="87B2B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-KR" sz="1800" b="1">
                <a:solidFill>
                  <a:schemeClr val="dk1"/>
                </a:solidFill>
              </a:rPr>
              <a:t>비교 가능성(Comparability)</a:t>
            </a:r>
            <a:br>
              <a:rPr lang="ko-KR" sz="1200" b="1">
                <a:solidFill>
                  <a:schemeClr val="dk1"/>
                </a:solidFill>
              </a:rPr>
            </a:br>
            <a:endParaRPr sz="1200" b="1">
              <a:solidFill>
                <a:schemeClr val="dk1"/>
              </a:solidFill>
            </a:endParaRPr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ko-KR" sz="1500">
                <a:solidFill>
                  <a:schemeClr val="dk1"/>
                </a:solidFill>
              </a:rPr>
              <a:t>기존 의료 AI 벤치마크(MedQA 등)와의 직접 비교를 위해 표준 지표인 accuracy를 사용</a:t>
            </a:r>
            <a:br>
              <a:rPr lang="ko-KR" sz="1500" b="1">
                <a:solidFill>
                  <a:schemeClr val="dk1"/>
                </a:solidFill>
              </a:rPr>
            </a:br>
            <a:endParaRPr sz="1500"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-KR" sz="1800" b="1">
                <a:solidFill>
                  <a:schemeClr val="dk1"/>
                </a:solidFill>
              </a:rPr>
              <a:t>지표의 안정성(Stability)</a:t>
            </a:r>
            <a:br>
              <a:rPr lang="ko-KR" sz="1200" b="1">
                <a:solidFill>
                  <a:schemeClr val="dk1"/>
                </a:solidFill>
              </a:rPr>
            </a:br>
            <a:endParaRPr sz="1200" b="1">
              <a:solidFill>
                <a:schemeClr val="dk1"/>
              </a:solidFill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ko-KR" sz="1500">
                <a:solidFill>
                  <a:schemeClr val="dk1"/>
                </a:solidFill>
              </a:rPr>
              <a:t>Accuracy는 실험 반복 시 분산이 낮고 모델 간 성능 차이를 명확히 구분 가능</a:t>
            </a:r>
            <a:br>
              <a:rPr lang="ko-KR" sz="1200" b="1">
                <a:solidFill>
                  <a:schemeClr val="dk1"/>
                </a:solidFill>
              </a:rPr>
            </a:br>
            <a:endParaRPr sz="1200"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-KR" sz="1800" b="1">
                <a:solidFill>
                  <a:schemeClr val="dk1"/>
                </a:solidFill>
              </a:rPr>
              <a:t>보조 지표의 해석 한계</a:t>
            </a:r>
            <a:br>
              <a:rPr lang="ko-KR" sz="1200" b="1">
                <a:solidFill>
                  <a:schemeClr val="dk1"/>
                </a:solidFill>
              </a:rPr>
            </a:br>
            <a:endParaRPr sz="1200" b="1">
              <a:solidFill>
                <a:schemeClr val="dk1"/>
              </a:solidFill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ko-KR" sz="1500">
                <a:solidFill>
                  <a:schemeClr val="dk1"/>
                </a:solidFill>
              </a:rPr>
              <a:t>Patient confidence, compliance, consultation rating은 환자 에이전트 반응에 의존하여 상대적 지표로 해석 필요</a:t>
            </a:r>
            <a:br>
              <a:rPr lang="ko-KR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-KR" sz="1800" b="1">
                <a:solidFill>
                  <a:schemeClr val="dk1"/>
                </a:solidFill>
              </a:rPr>
              <a:t>연구 목적의 초점</a:t>
            </a:r>
            <a:br>
              <a:rPr lang="ko-KR" sz="1200" b="1">
                <a:solidFill>
                  <a:schemeClr val="dk1"/>
                </a:solidFill>
              </a:rPr>
            </a:br>
            <a:endParaRPr sz="1200" b="1">
              <a:solidFill>
                <a:schemeClr val="dk1"/>
              </a:solidFill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ko-KR" sz="1500">
                <a:solidFill>
                  <a:schemeClr val="dk1"/>
                </a:solidFill>
              </a:rPr>
              <a:t>본 연구의 1차 목표는 임상 추론 능력의 정량적 비교</a:t>
            </a:r>
            <a:br>
              <a:rPr lang="ko-KR" sz="1200" b="1">
                <a:solidFill>
                  <a:schemeClr val="dk1"/>
                </a:solidFill>
              </a:rPr>
            </a:br>
            <a:endParaRPr sz="1200" b="1">
              <a:solidFill>
                <a:schemeClr val="dk1"/>
              </a:solidFill>
            </a:endParaRPr>
          </a:p>
        </p:txBody>
      </p:sp>
      <p:pic>
        <p:nvPicPr>
          <p:cNvPr id="46" name="Audio 45">
            <a:extLst>
              <a:ext uri="{FF2B5EF4-FFF2-40B4-BE49-F238E27FC236}">
                <a16:creationId xmlns:a16="http://schemas.microsoft.com/office/drawing/2014/main" id="{6139125E-F54D-4DA2-5D58-730C309F7F3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</p:cSld>
  <p:clrMapOvr>
    <a:masterClrMapping/>
  </p:clrMapOvr>
  <p:transition advTm="71104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6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"/>
          <p:cNvSpPr/>
          <p:nvPr/>
        </p:nvSpPr>
        <p:spPr>
          <a:xfrm>
            <a:off x="0" y="0"/>
            <a:ext cx="161924" cy="856343"/>
          </a:xfrm>
          <a:prstGeom prst="rect">
            <a:avLst/>
          </a:prstGeom>
          <a:solidFill>
            <a:srgbClr val="87B2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`</a:t>
            </a: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4" name="Google Shape;304;p5"/>
          <p:cNvSpPr/>
          <p:nvPr/>
        </p:nvSpPr>
        <p:spPr>
          <a:xfrm>
            <a:off x="207866" y="0"/>
            <a:ext cx="89314" cy="856343"/>
          </a:xfrm>
          <a:prstGeom prst="rect">
            <a:avLst/>
          </a:prstGeom>
          <a:solidFill>
            <a:srgbClr val="CD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5" name="Google Shape;305;p5"/>
          <p:cNvSpPr txBox="1">
            <a:spLocks noGrp="1"/>
          </p:cNvSpPr>
          <p:nvPr>
            <p:ph type="sldNum" idx="12"/>
          </p:nvPr>
        </p:nvSpPr>
        <p:spPr>
          <a:xfrm>
            <a:off x="89126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altLang="ko-KR"/>
              <a:t>14</a:t>
            </a:fld>
            <a:endParaRPr/>
          </a:p>
        </p:txBody>
      </p:sp>
      <p:pic>
        <p:nvPicPr>
          <p:cNvPr id="306" name="Google Shape;306;p5" descr="텍스트, 폰트, 그래픽, 그래픽 디자인이(가) 표시된 사진&#10;&#10;자동 생성된 설명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22142" y="134397"/>
            <a:ext cx="667446" cy="2473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7" name="Google Shape;307;p5"/>
          <p:cNvGrpSpPr/>
          <p:nvPr/>
        </p:nvGrpSpPr>
        <p:grpSpPr>
          <a:xfrm>
            <a:off x="273255" y="6477622"/>
            <a:ext cx="1927845" cy="225219"/>
            <a:chOff x="485023" y="42255440"/>
            <a:chExt cx="5272460" cy="615950"/>
          </a:xfrm>
        </p:grpSpPr>
        <p:pic>
          <p:nvPicPr>
            <p:cNvPr id="308" name="Google Shape;308;p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85023" y="42317670"/>
              <a:ext cx="3067685" cy="4914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9" name="Google Shape;309;p5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744533" y="42255440"/>
              <a:ext cx="2012950" cy="6159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0" name="Google Shape;310;p5"/>
          <p:cNvSpPr txBox="1"/>
          <p:nvPr/>
        </p:nvSpPr>
        <p:spPr>
          <a:xfrm>
            <a:off x="419501" y="102300"/>
            <a:ext cx="93255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ko-KR"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AgentClinic: a multimodal agent benchmark to evaluate AI in simulated clinical environments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ko-KR" sz="2800">
                <a:solidFill>
                  <a:schemeClr val="dk1"/>
                </a:solidFill>
              </a:rPr>
              <a:t>주요 결과 (모델 성능) - EHR 기반 시뮬레이션 결과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5"/>
          <p:cNvSpPr txBox="1"/>
          <p:nvPr/>
        </p:nvSpPr>
        <p:spPr>
          <a:xfrm>
            <a:off x="419501" y="587186"/>
            <a:ext cx="7481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ko-KR" sz="1700" b="1" dirty="0" err="1">
                <a:solidFill>
                  <a:schemeClr val="dk1"/>
                </a:solidFill>
              </a:rPr>
              <a:t>AgentClinic</a:t>
            </a:r>
            <a:r>
              <a:rPr lang="ko-KR" sz="1700" b="1" dirty="0">
                <a:solidFill>
                  <a:schemeClr val="dk1"/>
                </a:solidFill>
              </a:rPr>
              <a:t>-MIMIC-IV (EHR 기반 시뮬레이션)</a:t>
            </a:r>
            <a:endParaRPr sz="1700" b="1" dirty="0">
              <a:solidFill>
                <a:schemeClr val="dk1"/>
              </a:solidFill>
            </a:endParaRPr>
          </a:p>
        </p:txBody>
      </p:sp>
      <p:graphicFrame>
        <p:nvGraphicFramePr>
          <p:cNvPr id="312" name="Google Shape;312;p5"/>
          <p:cNvGraphicFramePr/>
          <p:nvPr/>
        </p:nvGraphicFramePr>
        <p:xfrm>
          <a:off x="835725" y="1302738"/>
          <a:ext cx="10486425" cy="4968076"/>
        </p:xfrm>
        <a:graphic>
          <a:graphicData uri="http://schemas.openxmlformats.org/drawingml/2006/table">
            <a:tbl>
              <a:tblPr>
                <a:noFill/>
                <a:tableStyleId>{EBC92258-191E-403A-88F9-7375E030F135}</a:tableStyleId>
              </a:tblPr>
              <a:tblGrid>
                <a:gridCol w="420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6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>
                          <a:solidFill>
                            <a:schemeClr val="lt1"/>
                          </a:solidFill>
                        </a:rPr>
                        <a:t>Model</a:t>
                      </a:r>
                      <a:endParaRPr sz="15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87B2B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>
                          <a:solidFill>
                            <a:schemeClr val="lt1"/>
                          </a:solidFill>
                        </a:rPr>
                        <a:t>Accuracy (%)</a:t>
                      </a:r>
                      <a:endParaRPr sz="15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87B2B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>
                          <a:solidFill>
                            <a:schemeClr val="lt1"/>
                          </a:solidFill>
                        </a:rPr>
                        <a:t>± (SE / CI 기반)</a:t>
                      </a:r>
                      <a:endParaRPr sz="15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87B2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/>
                        <a:t>Claude-3.5-Sonnet</a:t>
                      </a:r>
                      <a:endParaRPr sz="16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/>
                        <a:t>42.9</a:t>
                      </a:r>
                      <a:endParaRPr sz="15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/>
                        <a:t>±3.3</a:t>
                      </a:r>
                      <a:endParaRPr sz="1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OpenBioLLM-70B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38.1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±3.2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GPT-4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34.0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±3.1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PMC-Llama-7B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34.3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±3.0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Mixtral-8x7B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29.5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±3.1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MedLlama3-8B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29.7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±2.6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GPT-3.5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27.5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±3.0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Meditron-70B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25.5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±2.43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GPT-4o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24.0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±2.9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Llama-2-70B-chat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13.5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±2.2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Llama-3-70B-Instruct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b="1"/>
                        <a:t>8.5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±1.9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pic>
        <p:nvPicPr>
          <p:cNvPr id="50" name="Audio 49">
            <a:extLst>
              <a:ext uri="{FF2B5EF4-FFF2-40B4-BE49-F238E27FC236}">
                <a16:creationId xmlns:a16="http://schemas.microsoft.com/office/drawing/2014/main" id="{967F2B3E-C6D9-39CB-3050-E1087029E85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</p:cSld>
  <p:clrMapOvr>
    <a:masterClrMapping/>
  </p:clrMapOvr>
  <p:transition advTm="7776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0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bc896615d4_0_153"/>
          <p:cNvSpPr/>
          <p:nvPr/>
        </p:nvSpPr>
        <p:spPr>
          <a:xfrm>
            <a:off x="0" y="0"/>
            <a:ext cx="162000" cy="856200"/>
          </a:xfrm>
          <a:prstGeom prst="rect">
            <a:avLst/>
          </a:prstGeom>
          <a:solidFill>
            <a:srgbClr val="87B2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`</a:t>
            </a: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9" name="Google Shape;319;g3bc896615d4_0_153"/>
          <p:cNvSpPr/>
          <p:nvPr/>
        </p:nvSpPr>
        <p:spPr>
          <a:xfrm>
            <a:off x="207866" y="0"/>
            <a:ext cx="89400" cy="856200"/>
          </a:xfrm>
          <a:prstGeom prst="rect">
            <a:avLst/>
          </a:prstGeom>
          <a:solidFill>
            <a:srgbClr val="CD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0" name="Google Shape;320;g3bc896615d4_0_153"/>
          <p:cNvSpPr txBox="1">
            <a:spLocks noGrp="1"/>
          </p:cNvSpPr>
          <p:nvPr>
            <p:ph type="sldNum" idx="12"/>
          </p:nvPr>
        </p:nvSpPr>
        <p:spPr>
          <a:xfrm>
            <a:off x="8912665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altLang="ko-KR"/>
              <a:t>15</a:t>
            </a:fld>
            <a:endParaRPr/>
          </a:p>
        </p:txBody>
      </p:sp>
      <p:pic>
        <p:nvPicPr>
          <p:cNvPr id="321" name="Google Shape;321;g3bc896615d4_0_153" descr="텍스트, 폰트, 그래픽, 그래픽 디자인이(가) 표시된 사진&#10;&#10;자동 생성된 설명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22142" y="134397"/>
            <a:ext cx="667446" cy="2473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2" name="Google Shape;322;g3bc896615d4_0_153"/>
          <p:cNvGrpSpPr/>
          <p:nvPr/>
        </p:nvGrpSpPr>
        <p:grpSpPr>
          <a:xfrm>
            <a:off x="273234" y="6475723"/>
            <a:ext cx="1927611" cy="225191"/>
            <a:chOff x="485023" y="42255440"/>
            <a:chExt cx="5272460" cy="615950"/>
          </a:xfrm>
        </p:grpSpPr>
        <p:pic>
          <p:nvPicPr>
            <p:cNvPr id="323" name="Google Shape;323;g3bc896615d4_0_15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85023" y="42317670"/>
              <a:ext cx="3067685" cy="4914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4" name="Google Shape;324;g3bc896615d4_0_153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744533" y="42255440"/>
              <a:ext cx="2012950" cy="6159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5" name="Google Shape;325;g3bc896615d4_0_153"/>
          <p:cNvSpPr txBox="1"/>
          <p:nvPr/>
        </p:nvSpPr>
        <p:spPr>
          <a:xfrm>
            <a:off x="419501" y="102300"/>
            <a:ext cx="93255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ko-KR"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AgentClinic: a multimodal agent benchmark to evaluate AI in simulated clinical environments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ko-KR" sz="2800">
                <a:solidFill>
                  <a:schemeClr val="dk1"/>
                </a:solidFill>
              </a:rPr>
              <a:t>주요 결과 (모델 성능) - 의학 시험 및 에이전트 상호작용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g3bc896615d4_0_153"/>
          <p:cNvSpPr txBox="1"/>
          <p:nvPr/>
        </p:nvSpPr>
        <p:spPr>
          <a:xfrm>
            <a:off x="419501" y="479400"/>
            <a:ext cx="7481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 b="1">
                <a:solidFill>
                  <a:schemeClr val="dk1"/>
                </a:solidFill>
              </a:rPr>
              <a:t>AgentClinic-MedQA (의학 시험 + 에이전트 상호작용)</a:t>
            </a:r>
            <a:endParaRPr sz="1700" b="1">
              <a:solidFill>
                <a:schemeClr val="dk1"/>
              </a:solidFill>
            </a:endParaRPr>
          </a:p>
        </p:txBody>
      </p:sp>
      <p:graphicFrame>
        <p:nvGraphicFramePr>
          <p:cNvPr id="327" name="Google Shape;327;g3bc896615d4_0_153"/>
          <p:cNvGraphicFramePr/>
          <p:nvPr>
            <p:extLst>
              <p:ext uri="{D42A27DB-BD31-4B8C-83A1-F6EECF244321}">
                <p14:modId xmlns:p14="http://schemas.microsoft.com/office/powerpoint/2010/main" val="3676553963"/>
              </p:ext>
            </p:extLst>
          </p:nvPr>
        </p:nvGraphicFramePr>
        <p:xfrm>
          <a:off x="563692" y="1113711"/>
          <a:ext cx="10758450" cy="5311939"/>
        </p:xfrm>
        <a:graphic>
          <a:graphicData uri="http://schemas.openxmlformats.org/drawingml/2006/table">
            <a:tbl>
              <a:tblPr>
                <a:noFill/>
                <a:tableStyleId>{EBC92258-191E-403A-88F9-7375E030F135}</a:tableStyleId>
              </a:tblPr>
              <a:tblGrid>
                <a:gridCol w="561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4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86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>
                          <a:solidFill>
                            <a:schemeClr val="lt1"/>
                          </a:solidFill>
                        </a:rPr>
                        <a:t>Model</a:t>
                      </a:r>
                      <a:endParaRPr sz="15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87B2B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 dirty="0" err="1">
                          <a:solidFill>
                            <a:schemeClr val="lt1"/>
                          </a:solidFill>
                        </a:rPr>
                        <a:t>Accuracy</a:t>
                      </a:r>
                      <a:r>
                        <a:rPr lang="ko-KR" sz="1500" b="1" dirty="0">
                          <a:solidFill>
                            <a:schemeClr val="lt1"/>
                          </a:solidFill>
                        </a:rPr>
                        <a:t> (%)</a:t>
                      </a:r>
                      <a:endParaRPr sz="15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87B2B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>
                          <a:solidFill>
                            <a:schemeClr val="lt1"/>
                          </a:solidFill>
                        </a:rPr>
                        <a:t>± (SE / CI 기반)</a:t>
                      </a:r>
                      <a:endParaRPr sz="15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87B2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0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 dirty="0"/>
                        <a:t>Claude-3.5-Sonnet</a:t>
                      </a:r>
                      <a:endParaRPr sz="1500"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/>
                        <a:t>62.1</a:t>
                      </a:r>
                      <a:endParaRPr sz="15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/>
                        <a:t>±3.3</a:t>
                      </a:r>
                      <a:endParaRPr sz="15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0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/>
                        <a:t>OpenBioLLM-70B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/>
                        <a:t>58.3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/>
                        <a:t>±4.2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0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 dirty="0" err="1"/>
                        <a:t>Human</a:t>
                      </a:r>
                      <a:r>
                        <a:rPr lang="ko-KR" sz="1500" b="1" dirty="0"/>
                        <a:t> </a:t>
                      </a:r>
                      <a:r>
                        <a:rPr lang="ko-KR" sz="1500" b="1" dirty="0" err="1"/>
                        <a:t>Physicians</a:t>
                      </a:r>
                      <a:endParaRPr sz="1500"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/>
                        <a:t>54.0</a:t>
                      </a:r>
                      <a:endParaRPr sz="15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/>
                        <a:t>±28.5</a:t>
                      </a:r>
                      <a:endParaRPr sz="15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0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/>
                        <a:t>GPT-4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/>
                        <a:t>51.6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/>
                        <a:t>±3.3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0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/>
                        <a:t>Mixtral-8x7B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/>
                        <a:t>37.1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/>
                        <a:t>±3.1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0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/>
                        <a:t>GPT-3.5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/>
                        <a:t>36.6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/>
                        <a:t>Na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0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/>
                        <a:t>GPT-4o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/>
                        <a:t>34.2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/>
                        <a:t>±3.4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0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/>
                        <a:t>MedLlama3-8B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/>
                        <a:t>31.4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/>
                        <a:t>±2.9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0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/>
                        <a:t>Meditron-70B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/>
                        <a:t>29.1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/>
                        <a:t>±2.4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20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/>
                        <a:t>PMC-Llama-7B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/>
                        <a:t>23.6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/>
                        <a:t>±2.1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20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/>
                        <a:t>Llama-3-70B-Instruct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/>
                        <a:t>19.0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/>
                        <a:t>±2.5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020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/>
                        <a:t>Llama-2-70B-chat</a:t>
                      </a:r>
                      <a:endParaRPr sz="15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/>
                        <a:t>4.5</a:t>
                      </a:r>
                      <a:endParaRPr sz="15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dirty="0"/>
                        <a:t>±1.3</a:t>
                      </a:r>
                      <a:endParaRPr sz="15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51" name="Audio 50">
            <a:extLst>
              <a:ext uri="{FF2B5EF4-FFF2-40B4-BE49-F238E27FC236}">
                <a16:creationId xmlns:a16="http://schemas.microsoft.com/office/drawing/2014/main" id="{57986E46-EA31-FB4A-2253-5F7FE2D6012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</p:cSld>
  <p:clrMapOvr>
    <a:masterClrMapping/>
  </p:clrMapOvr>
  <p:transition advTm="86048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1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bc896615d4_0_175"/>
          <p:cNvSpPr/>
          <p:nvPr/>
        </p:nvSpPr>
        <p:spPr>
          <a:xfrm>
            <a:off x="0" y="0"/>
            <a:ext cx="162000" cy="856200"/>
          </a:xfrm>
          <a:prstGeom prst="rect">
            <a:avLst/>
          </a:prstGeom>
          <a:solidFill>
            <a:srgbClr val="87B2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`</a:t>
            </a: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4" name="Google Shape;334;g3bc896615d4_0_175"/>
          <p:cNvSpPr/>
          <p:nvPr/>
        </p:nvSpPr>
        <p:spPr>
          <a:xfrm>
            <a:off x="207866" y="0"/>
            <a:ext cx="89400" cy="856200"/>
          </a:xfrm>
          <a:prstGeom prst="rect">
            <a:avLst/>
          </a:prstGeom>
          <a:solidFill>
            <a:srgbClr val="CD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5" name="Google Shape;335;g3bc896615d4_0_175"/>
          <p:cNvSpPr txBox="1">
            <a:spLocks noGrp="1"/>
          </p:cNvSpPr>
          <p:nvPr>
            <p:ph type="sldNum" idx="12"/>
          </p:nvPr>
        </p:nvSpPr>
        <p:spPr>
          <a:xfrm>
            <a:off x="8912665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altLang="ko-KR"/>
              <a:t>16</a:t>
            </a:fld>
            <a:endParaRPr/>
          </a:p>
        </p:txBody>
      </p:sp>
      <p:pic>
        <p:nvPicPr>
          <p:cNvPr id="336" name="Google Shape;336;g3bc896615d4_0_175" descr="텍스트, 폰트, 그래픽, 그래픽 디자인이(가) 표시된 사진&#10;&#10;자동 생성된 설명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22142" y="134397"/>
            <a:ext cx="667446" cy="2473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7" name="Google Shape;337;g3bc896615d4_0_175"/>
          <p:cNvGrpSpPr/>
          <p:nvPr/>
        </p:nvGrpSpPr>
        <p:grpSpPr>
          <a:xfrm>
            <a:off x="273234" y="6475723"/>
            <a:ext cx="1927611" cy="225191"/>
            <a:chOff x="485023" y="42255440"/>
            <a:chExt cx="5272460" cy="615950"/>
          </a:xfrm>
        </p:grpSpPr>
        <p:pic>
          <p:nvPicPr>
            <p:cNvPr id="338" name="Google Shape;338;g3bc896615d4_0_17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85023" y="42317670"/>
              <a:ext cx="3067685" cy="4914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9" name="Google Shape;339;g3bc896615d4_0_175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744533" y="42255440"/>
              <a:ext cx="2012950" cy="6159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0" name="Google Shape;340;g3bc896615d4_0_175"/>
          <p:cNvSpPr txBox="1"/>
          <p:nvPr/>
        </p:nvSpPr>
        <p:spPr>
          <a:xfrm>
            <a:off x="419501" y="102300"/>
            <a:ext cx="93255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ko-KR"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AgentClinic: a multimodal agent benchmark to evaluate AI in simulated clinical environments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ko-KR" sz="2800">
                <a:solidFill>
                  <a:schemeClr val="dk1"/>
                </a:solidFill>
              </a:rPr>
              <a:t>주요 결과 (모델 성능) - 이미지가 포함된 임상케이스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g3bc896615d4_0_175"/>
          <p:cNvSpPr txBox="1"/>
          <p:nvPr/>
        </p:nvSpPr>
        <p:spPr>
          <a:xfrm>
            <a:off x="808225" y="1101025"/>
            <a:ext cx="7481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ko-KR" sz="1700" b="1">
                <a:solidFill>
                  <a:schemeClr val="dk1"/>
                </a:solidFill>
              </a:rPr>
              <a:t>AgentClinic-NEJM (이미지 포함 실제 임상 케이스)</a:t>
            </a:r>
            <a:endParaRPr sz="1700" b="1">
              <a:solidFill>
                <a:schemeClr val="dk1"/>
              </a:solidFill>
            </a:endParaRPr>
          </a:p>
        </p:txBody>
      </p:sp>
      <p:graphicFrame>
        <p:nvGraphicFramePr>
          <p:cNvPr id="342" name="Google Shape;342;g3bc896615d4_0_175"/>
          <p:cNvGraphicFramePr/>
          <p:nvPr/>
        </p:nvGraphicFramePr>
        <p:xfrm>
          <a:off x="531700" y="2040025"/>
          <a:ext cx="4795300" cy="1627258"/>
        </p:xfrm>
        <a:graphic>
          <a:graphicData uri="http://schemas.openxmlformats.org/drawingml/2006/table">
            <a:tbl>
              <a:tblPr>
                <a:noFill/>
                <a:tableStyleId>{EBC92258-191E-403A-88F9-7375E030F135}</a:tableStyleId>
              </a:tblPr>
              <a:tblGrid>
                <a:gridCol w="198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9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>
                          <a:solidFill>
                            <a:schemeClr val="lt1"/>
                          </a:solidFill>
                        </a:rPr>
                        <a:t>Model</a:t>
                      </a:r>
                      <a:endParaRPr sz="15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87B2B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>
                          <a:solidFill>
                            <a:schemeClr val="lt1"/>
                          </a:solidFill>
                        </a:rPr>
                        <a:t>Accuracy</a:t>
                      </a:r>
                      <a:endParaRPr sz="15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87B2B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>
                          <a:solidFill>
                            <a:schemeClr val="lt1"/>
                          </a:solidFill>
                        </a:rPr>
                        <a:t>95% CI</a:t>
                      </a:r>
                      <a:endParaRPr sz="15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87B2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GPT-4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/>
                        <a:t>27.7%</a:t>
                      </a:r>
                      <a:endParaRPr sz="15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[21, 33]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GPT-4o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21.4%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[14, 25]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GPT-4o-mini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8.0%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[5, 11]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43" name="Google Shape;343;g3bc896615d4_0_175"/>
          <p:cNvGraphicFramePr/>
          <p:nvPr/>
        </p:nvGraphicFramePr>
        <p:xfrm>
          <a:off x="531700" y="4432575"/>
          <a:ext cx="4795300" cy="1627258"/>
        </p:xfrm>
        <a:graphic>
          <a:graphicData uri="http://schemas.openxmlformats.org/drawingml/2006/table">
            <a:tbl>
              <a:tblPr>
                <a:noFill/>
                <a:tableStyleId>{EBC92258-191E-403A-88F9-7375E030F135}</a:tableStyleId>
              </a:tblPr>
              <a:tblGrid>
                <a:gridCol w="198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9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>
                          <a:solidFill>
                            <a:schemeClr val="lt1"/>
                          </a:solidFill>
                        </a:rPr>
                        <a:t>Model</a:t>
                      </a:r>
                      <a:endParaRPr sz="15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87B2B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>
                          <a:solidFill>
                            <a:schemeClr val="lt1"/>
                          </a:solidFill>
                        </a:rPr>
                        <a:t>Accuracy</a:t>
                      </a:r>
                      <a:endParaRPr sz="15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87B2B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>
                          <a:solidFill>
                            <a:schemeClr val="lt1"/>
                          </a:solidFill>
                        </a:rPr>
                        <a:t>95% CI</a:t>
                      </a:r>
                      <a:endParaRPr sz="15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87B2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GPT-4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1"/>
                        <a:t>25.4%</a:t>
                      </a:r>
                      <a:endParaRPr sz="15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[20, 31]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GPT-4o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19.1%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[14, 24]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GPT-4o-mini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6.1%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[4, 8]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4" name="Google Shape;344;g3bc896615d4_0_175"/>
          <p:cNvSpPr txBox="1"/>
          <p:nvPr/>
        </p:nvSpPr>
        <p:spPr>
          <a:xfrm>
            <a:off x="1390675" y="1547425"/>
            <a:ext cx="2743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chemeClr val="dk1"/>
                </a:solidFill>
              </a:rPr>
              <a:t>이미지 초기 제공</a:t>
            </a:r>
            <a:endParaRPr sz="20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5" name="Google Shape;345;g3bc896615d4_0_175"/>
          <p:cNvSpPr txBox="1"/>
          <p:nvPr/>
        </p:nvSpPr>
        <p:spPr>
          <a:xfrm>
            <a:off x="724525" y="3939975"/>
            <a:ext cx="4075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chemeClr val="dk1"/>
                </a:solidFill>
              </a:rPr>
              <a:t>이미지 요청해야 하는 경우</a:t>
            </a:r>
            <a:endParaRPr sz="2000" b="1">
              <a:solidFill>
                <a:schemeClr val="dk1"/>
              </a:solidFill>
            </a:endParaRPr>
          </a:p>
        </p:txBody>
      </p:sp>
      <p:pic>
        <p:nvPicPr>
          <p:cNvPr id="346" name="Google Shape;346;g3bc896615d4_0_175" title="gpt4_image tyep model accuracy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327000" y="2331925"/>
            <a:ext cx="6328876" cy="353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Audio 45">
            <a:extLst>
              <a:ext uri="{FF2B5EF4-FFF2-40B4-BE49-F238E27FC236}">
                <a16:creationId xmlns:a16="http://schemas.microsoft.com/office/drawing/2014/main" id="{25EDBC4B-A800-1CA3-835B-9DFE4351A4C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</p:cSld>
  <p:clrMapOvr>
    <a:masterClrMapping/>
  </p:clrMapOvr>
  <p:transition advTm="77696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6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7"/>
          <p:cNvSpPr/>
          <p:nvPr/>
        </p:nvSpPr>
        <p:spPr>
          <a:xfrm>
            <a:off x="0" y="0"/>
            <a:ext cx="161924" cy="856343"/>
          </a:xfrm>
          <a:prstGeom prst="rect">
            <a:avLst/>
          </a:prstGeom>
          <a:solidFill>
            <a:srgbClr val="87B2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`</a:t>
            </a: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3" name="Google Shape;353;p7"/>
          <p:cNvSpPr/>
          <p:nvPr/>
        </p:nvSpPr>
        <p:spPr>
          <a:xfrm>
            <a:off x="207866" y="0"/>
            <a:ext cx="89314" cy="856343"/>
          </a:xfrm>
          <a:prstGeom prst="rect">
            <a:avLst/>
          </a:prstGeom>
          <a:solidFill>
            <a:srgbClr val="CD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4" name="Google Shape;354;p7"/>
          <p:cNvSpPr txBox="1">
            <a:spLocks noGrp="1"/>
          </p:cNvSpPr>
          <p:nvPr>
            <p:ph type="sldNum" idx="12"/>
          </p:nvPr>
        </p:nvSpPr>
        <p:spPr>
          <a:xfrm>
            <a:off x="89126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altLang="ko-KR"/>
              <a:t>17</a:t>
            </a:fld>
            <a:endParaRPr/>
          </a:p>
        </p:txBody>
      </p:sp>
      <p:pic>
        <p:nvPicPr>
          <p:cNvPr id="355" name="Google Shape;355;p7" descr="텍스트, 폰트, 그래픽, 그래픽 디자인이(가) 표시된 사진&#10;&#10;자동 생성된 설명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22142" y="134397"/>
            <a:ext cx="667446" cy="2473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6" name="Google Shape;356;p7"/>
          <p:cNvGrpSpPr/>
          <p:nvPr/>
        </p:nvGrpSpPr>
        <p:grpSpPr>
          <a:xfrm>
            <a:off x="273255" y="6477622"/>
            <a:ext cx="1927845" cy="225219"/>
            <a:chOff x="485023" y="42255440"/>
            <a:chExt cx="5272460" cy="615950"/>
          </a:xfrm>
        </p:grpSpPr>
        <p:pic>
          <p:nvPicPr>
            <p:cNvPr id="357" name="Google Shape;357;p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85023" y="42317670"/>
              <a:ext cx="3067685" cy="4914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8" name="Google Shape;358;p7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744533" y="42255440"/>
              <a:ext cx="2012950" cy="6159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9" name="Google Shape;359;p7"/>
          <p:cNvSpPr txBox="1"/>
          <p:nvPr/>
        </p:nvSpPr>
        <p:spPr>
          <a:xfrm>
            <a:off x="419501" y="102300"/>
            <a:ext cx="87738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ko-KR"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AgentClinic: a multimodal agent benchmark to evaluate AI in simulated clinical environments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ko-KR" sz="2800">
                <a:solidFill>
                  <a:schemeClr val="dk1"/>
                </a:solidFill>
              </a:rPr>
              <a:t>주요 결과 (모델 성능)- Specialty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0" name="Google Shape;360;p7" title="Screenshot 2026-02-01 at 1.45.39 PM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7175" y="1389725"/>
            <a:ext cx="6009176" cy="439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7" title="Screenshot 2026-02-01 at 2.34.14 PM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96000" y="2412400"/>
            <a:ext cx="5559875" cy="241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Audio 32">
            <a:extLst>
              <a:ext uri="{FF2B5EF4-FFF2-40B4-BE49-F238E27FC236}">
                <a16:creationId xmlns:a16="http://schemas.microsoft.com/office/drawing/2014/main" id="{79AC2B2C-727F-EC2B-711E-B797F650D8D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</p:cSld>
  <p:clrMapOvr>
    <a:masterClrMapping/>
  </p:clrMapOvr>
  <p:transition advTm="78912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3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bc896615d4_0_205"/>
          <p:cNvSpPr/>
          <p:nvPr/>
        </p:nvSpPr>
        <p:spPr>
          <a:xfrm>
            <a:off x="0" y="0"/>
            <a:ext cx="162000" cy="856200"/>
          </a:xfrm>
          <a:prstGeom prst="rect">
            <a:avLst/>
          </a:prstGeom>
          <a:solidFill>
            <a:srgbClr val="87B2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ko-KR"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`</a:t>
            </a: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8" name="Google Shape;368;g3bc896615d4_0_205"/>
          <p:cNvSpPr/>
          <p:nvPr/>
        </p:nvSpPr>
        <p:spPr>
          <a:xfrm>
            <a:off x="207866" y="0"/>
            <a:ext cx="89400" cy="856200"/>
          </a:xfrm>
          <a:prstGeom prst="rect">
            <a:avLst/>
          </a:prstGeom>
          <a:solidFill>
            <a:srgbClr val="CD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9" name="Google Shape;369;g3bc896615d4_0_205"/>
          <p:cNvSpPr txBox="1">
            <a:spLocks noGrp="1"/>
          </p:cNvSpPr>
          <p:nvPr>
            <p:ph type="sldNum" idx="12"/>
          </p:nvPr>
        </p:nvSpPr>
        <p:spPr>
          <a:xfrm>
            <a:off x="8912665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altLang="ko-KR"/>
              <a:t>18</a:t>
            </a:fld>
            <a:endParaRPr/>
          </a:p>
        </p:txBody>
      </p:sp>
      <p:pic>
        <p:nvPicPr>
          <p:cNvPr id="370" name="Google Shape;370;g3bc896615d4_0_205" descr="텍스트, 폰트, 그래픽, 그래픽 디자인이(가) 표시된 사진&#10;&#10;자동 생성된 설명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22142" y="134397"/>
            <a:ext cx="667446" cy="2473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1" name="Google Shape;371;g3bc896615d4_0_205"/>
          <p:cNvGrpSpPr/>
          <p:nvPr/>
        </p:nvGrpSpPr>
        <p:grpSpPr>
          <a:xfrm>
            <a:off x="273234" y="6475723"/>
            <a:ext cx="1927611" cy="225191"/>
            <a:chOff x="485023" y="42255440"/>
            <a:chExt cx="5272460" cy="615950"/>
          </a:xfrm>
        </p:grpSpPr>
        <p:pic>
          <p:nvPicPr>
            <p:cNvPr id="372" name="Google Shape;372;g3bc896615d4_0_20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85023" y="42317670"/>
              <a:ext cx="3067685" cy="4914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3" name="Google Shape;373;g3bc896615d4_0_205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744533" y="42255440"/>
              <a:ext cx="2012950" cy="6159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4" name="Google Shape;374;g3bc896615d4_0_205"/>
          <p:cNvSpPr txBox="1"/>
          <p:nvPr/>
        </p:nvSpPr>
        <p:spPr>
          <a:xfrm>
            <a:off x="419501" y="102300"/>
            <a:ext cx="87738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ko-KR"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AgentClinic: a multimodal agent benchmark to evaluate AI in simulated clinical environments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ko-KR" sz="2800">
                <a:solidFill>
                  <a:schemeClr val="dk1"/>
                </a:solidFill>
              </a:rPr>
              <a:t>주요 결과 (모델 성능) - Multilingual 결과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5" name="Google Shape;375;g3bc896615d4_0_205" title="Screenshot 2026-02-01 at 1.45.46 PM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7275" y="1328688"/>
            <a:ext cx="5978025" cy="4200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g3bc896615d4_0_205" title="Screenshot 2026-02-01 at 2.34.56 PM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96000" y="2503300"/>
            <a:ext cx="5349376" cy="2071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Audio 33">
            <a:extLst>
              <a:ext uri="{FF2B5EF4-FFF2-40B4-BE49-F238E27FC236}">
                <a16:creationId xmlns:a16="http://schemas.microsoft.com/office/drawing/2014/main" id="{F78DCD9D-A2E6-90B4-379C-D9FBAB64B08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</p:cSld>
  <p:clrMapOvr>
    <a:masterClrMapping/>
  </p:clrMapOvr>
  <p:transition advTm="87392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4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bc896615d4_0_484"/>
          <p:cNvSpPr/>
          <p:nvPr/>
        </p:nvSpPr>
        <p:spPr>
          <a:xfrm>
            <a:off x="0" y="0"/>
            <a:ext cx="162000" cy="856200"/>
          </a:xfrm>
          <a:prstGeom prst="rect">
            <a:avLst/>
          </a:prstGeom>
          <a:solidFill>
            <a:srgbClr val="87B2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3" name="Google Shape;383;g3bc896615d4_0_484"/>
          <p:cNvSpPr/>
          <p:nvPr/>
        </p:nvSpPr>
        <p:spPr>
          <a:xfrm>
            <a:off x="207866" y="0"/>
            <a:ext cx="89400" cy="856200"/>
          </a:xfrm>
          <a:prstGeom prst="rect">
            <a:avLst/>
          </a:prstGeom>
          <a:solidFill>
            <a:srgbClr val="CD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4" name="Google Shape;384;g3bc896615d4_0_484"/>
          <p:cNvSpPr txBox="1">
            <a:spLocks noGrp="1"/>
          </p:cNvSpPr>
          <p:nvPr>
            <p:ph type="sldNum" idx="12"/>
          </p:nvPr>
        </p:nvSpPr>
        <p:spPr>
          <a:xfrm>
            <a:off x="8912665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altLang="ko-KR"/>
              <a:t>19</a:t>
            </a:fld>
            <a:endParaRPr/>
          </a:p>
        </p:txBody>
      </p:sp>
      <p:pic>
        <p:nvPicPr>
          <p:cNvPr id="385" name="Google Shape;385;g3bc896615d4_0_484" descr="텍스트, 폰트, 그래픽, 그래픽 디자인이(가) 표시된 사진&#10;&#10;자동 생성된 설명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22142" y="134397"/>
            <a:ext cx="667446" cy="2473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6" name="Google Shape;386;g3bc896615d4_0_484"/>
          <p:cNvGrpSpPr/>
          <p:nvPr/>
        </p:nvGrpSpPr>
        <p:grpSpPr>
          <a:xfrm>
            <a:off x="273234" y="6475723"/>
            <a:ext cx="1927611" cy="225191"/>
            <a:chOff x="485023" y="42255440"/>
            <a:chExt cx="5272460" cy="615950"/>
          </a:xfrm>
        </p:grpSpPr>
        <p:pic>
          <p:nvPicPr>
            <p:cNvPr id="387" name="Google Shape;387;g3bc896615d4_0_48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85023" y="42317670"/>
              <a:ext cx="3067685" cy="4914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8" name="Google Shape;388;g3bc896615d4_0_484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744533" y="42255440"/>
              <a:ext cx="2012950" cy="6159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9" name="Google Shape;389;g3bc896615d4_0_484"/>
          <p:cNvSpPr txBox="1"/>
          <p:nvPr/>
        </p:nvSpPr>
        <p:spPr>
          <a:xfrm>
            <a:off x="419501" y="102300"/>
            <a:ext cx="98280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ko-KR"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AgentClinic: a multimodal agent benchmark to evaluate AI in simulated clinical environments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ko-KR" sz="2800">
                <a:solidFill>
                  <a:schemeClr val="dk1"/>
                </a:solidFill>
              </a:rPr>
              <a:t>Conclusion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g3bc896615d4_0_484"/>
          <p:cNvSpPr/>
          <p:nvPr/>
        </p:nvSpPr>
        <p:spPr>
          <a:xfrm>
            <a:off x="733900" y="983725"/>
            <a:ext cx="10588200" cy="5028000"/>
          </a:xfrm>
          <a:prstGeom prst="roundRect">
            <a:avLst>
              <a:gd name="adj" fmla="val 6791"/>
            </a:avLst>
          </a:prstGeom>
          <a:solidFill>
            <a:schemeClr val="lt1"/>
          </a:solidFill>
          <a:ln w="38100" cap="flat" cmpd="sng">
            <a:solidFill>
              <a:srgbClr val="87B2B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ko-KR" sz="1900" dirty="0" err="1">
                <a:solidFill>
                  <a:schemeClr val="dk1"/>
                </a:solidFill>
              </a:rPr>
              <a:t>AgentClinic은</a:t>
            </a:r>
            <a:r>
              <a:rPr lang="ko-KR" sz="1900" dirty="0">
                <a:solidFill>
                  <a:schemeClr val="dk1"/>
                </a:solidFill>
              </a:rPr>
              <a:t> 정적 Q&amp;A 기반 평가의 한계를 넘어, 실제 임상 환경을 모사한 상호작용 기반(</a:t>
            </a:r>
            <a:r>
              <a:rPr lang="ko-KR" sz="1900" dirty="0" err="1">
                <a:solidFill>
                  <a:schemeClr val="dk1"/>
                </a:solidFill>
              </a:rPr>
              <a:t>multimodal</a:t>
            </a:r>
            <a:r>
              <a:rPr lang="ko-KR" sz="1900" dirty="0">
                <a:solidFill>
                  <a:schemeClr val="dk1"/>
                </a:solidFill>
              </a:rPr>
              <a:t>) 벤치마크를 제안함</a:t>
            </a:r>
            <a:br>
              <a:rPr lang="ko-KR" sz="1900" dirty="0">
                <a:solidFill>
                  <a:schemeClr val="dk1"/>
                </a:solidFill>
              </a:rPr>
            </a:br>
            <a:endParaRPr sz="1900" dirty="0">
              <a:solidFill>
                <a:schemeClr val="dk1"/>
              </a:solidFill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ko-KR" sz="1900" dirty="0">
                <a:solidFill>
                  <a:schemeClr val="dk1"/>
                </a:solidFill>
              </a:rPr>
              <a:t>진단 성능은 단순한 모델 정확도가 아니라 상호작용 전략, 도구 사용, 환자 에이전트 품질에 의해 결정됨</a:t>
            </a:r>
            <a:br>
              <a:rPr lang="ko-KR" sz="1900" dirty="0">
                <a:solidFill>
                  <a:schemeClr val="dk1"/>
                </a:solidFill>
              </a:rPr>
            </a:br>
            <a:endParaRPr sz="1900" dirty="0">
              <a:solidFill>
                <a:schemeClr val="dk1"/>
              </a:solidFill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ko-KR" sz="1900" dirty="0">
                <a:solidFill>
                  <a:schemeClr val="dk1"/>
                </a:solidFill>
              </a:rPr>
              <a:t>기존 </a:t>
            </a:r>
            <a:r>
              <a:rPr lang="ko-KR" sz="1900" dirty="0" err="1">
                <a:solidFill>
                  <a:schemeClr val="dk1"/>
                </a:solidFill>
              </a:rPr>
              <a:t>MedQA</a:t>
            </a:r>
            <a:r>
              <a:rPr lang="ko-KR" sz="1900" dirty="0">
                <a:solidFill>
                  <a:schemeClr val="dk1"/>
                </a:solidFill>
              </a:rPr>
              <a:t> 성능은 </a:t>
            </a:r>
            <a:r>
              <a:rPr lang="ko-KR" sz="1900" dirty="0" err="1">
                <a:solidFill>
                  <a:schemeClr val="dk1"/>
                </a:solidFill>
              </a:rPr>
              <a:t>AgentClinic</a:t>
            </a:r>
            <a:r>
              <a:rPr lang="ko-KR" sz="1900" dirty="0">
                <a:solidFill>
                  <a:schemeClr val="dk1"/>
                </a:solidFill>
              </a:rPr>
              <a:t> 환경에서의 임상 추론 성능을 충분히 예측하지 못함</a:t>
            </a:r>
            <a:br>
              <a:rPr lang="ko-KR" sz="1900" dirty="0">
                <a:solidFill>
                  <a:schemeClr val="dk1"/>
                </a:solidFill>
              </a:rPr>
            </a:br>
            <a:endParaRPr sz="1900" dirty="0">
              <a:solidFill>
                <a:schemeClr val="dk1"/>
              </a:solidFill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ko-KR" sz="1900" dirty="0">
                <a:solidFill>
                  <a:schemeClr val="dk1"/>
                </a:solidFill>
              </a:rPr>
              <a:t>Tool, </a:t>
            </a:r>
            <a:r>
              <a:rPr lang="ko-KR" sz="1900" dirty="0" err="1">
                <a:solidFill>
                  <a:schemeClr val="dk1"/>
                </a:solidFill>
              </a:rPr>
              <a:t>interaction</a:t>
            </a:r>
            <a:r>
              <a:rPr lang="ko-KR" sz="1900" dirty="0">
                <a:solidFill>
                  <a:schemeClr val="dk1"/>
                </a:solidFill>
              </a:rPr>
              <a:t> </a:t>
            </a:r>
            <a:r>
              <a:rPr lang="ko-KR" sz="1900" dirty="0" err="1">
                <a:solidFill>
                  <a:schemeClr val="dk1"/>
                </a:solidFill>
              </a:rPr>
              <a:t>budget</a:t>
            </a:r>
            <a:r>
              <a:rPr lang="ko-KR" sz="1900" dirty="0">
                <a:solidFill>
                  <a:schemeClr val="dk1"/>
                </a:solidFill>
              </a:rPr>
              <a:t>, </a:t>
            </a:r>
            <a:r>
              <a:rPr lang="ko-KR" sz="1900" dirty="0" err="1">
                <a:solidFill>
                  <a:schemeClr val="dk1"/>
                </a:solidFill>
              </a:rPr>
              <a:t>bias</a:t>
            </a:r>
            <a:r>
              <a:rPr lang="ko-KR" sz="1900" dirty="0">
                <a:solidFill>
                  <a:schemeClr val="dk1"/>
                </a:solidFill>
              </a:rPr>
              <a:t> 실험을 통해 </a:t>
            </a:r>
            <a:r>
              <a:rPr lang="ko-KR" sz="1900" dirty="0" err="1">
                <a:solidFill>
                  <a:schemeClr val="dk1"/>
                </a:solidFill>
              </a:rPr>
              <a:t>LLM의</a:t>
            </a:r>
            <a:r>
              <a:rPr lang="ko-KR" sz="1900" dirty="0">
                <a:solidFill>
                  <a:schemeClr val="dk1"/>
                </a:solidFill>
              </a:rPr>
              <a:t> 임상적 한계와 취약점이 명확히 드러남</a:t>
            </a:r>
            <a:br>
              <a:rPr lang="ko-KR" sz="1900" dirty="0">
                <a:solidFill>
                  <a:schemeClr val="dk1"/>
                </a:solidFill>
              </a:rPr>
            </a:br>
            <a:endParaRPr sz="1900" dirty="0">
              <a:solidFill>
                <a:schemeClr val="dk1"/>
              </a:solidFill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ko-KR" sz="1900" dirty="0">
                <a:solidFill>
                  <a:schemeClr val="dk1"/>
                </a:solidFill>
              </a:rPr>
              <a:t>따라서 </a:t>
            </a:r>
            <a:r>
              <a:rPr lang="ko-KR" sz="1900" dirty="0" err="1">
                <a:solidFill>
                  <a:schemeClr val="dk1"/>
                </a:solidFill>
              </a:rPr>
              <a:t>AgentClinic은</a:t>
            </a:r>
            <a:r>
              <a:rPr lang="ko-KR" sz="1900" dirty="0">
                <a:solidFill>
                  <a:schemeClr val="dk1"/>
                </a:solidFill>
              </a:rPr>
              <a:t> 실제 임상 적용 가능성을 평가하기 위한 보다 현실적인 기준을 제공함</a:t>
            </a:r>
            <a:endParaRPr sz="1900" dirty="0">
              <a:solidFill>
                <a:schemeClr val="dk1"/>
              </a:solidFill>
            </a:endParaRPr>
          </a:p>
        </p:txBody>
      </p:sp>
      <p:pic>
        <p:nvPicPr>
          <p:cNvPr id="26" name="Audio 25">
            <a:extLst>
              <a:ext uri="{FF2B5EF4-FFF2-40B4-BE49-F238E27FC236}">
                <a16:creationId xmlns:a16="http://schemas.microsoft.com/office/drawing/2014/main" id="{3D947905-8C8E-1C23-E736-C210D783A22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</p:cSld>
  <p:clrMapOvr>
    <a:masterClrMapping/>
  </p:clrMapOvr>
  <p:transition advTm="8481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4221</Words>
  <Application>Microsoft Macintosh PowerPoint</Application>
  <PresentationFormat>Widescreen</PresentationFormat>
  <Paragraphs>481</Paragraphs>
  <Slides>19</Slides>
  <Notes>19</Notes>
  <HiddenSlides>0</HiddenSlides>
  <MMClips>19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Malgun Gothic</vt:lpstr>
      <vt:lpstr>Arial</vt:lpstr>
      <vt:lpstr>Office 테마</vt:lpstr>
      <vt:lpstr>AgentClinic: a multimodal agent benchmark to evaluate AI in simulated clinical environments Samuel Schmidgall, Rojin Ziaei, Carl Harris, Eduardo Reis, Jeffrey Jopling, Michael Moor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최예은</dc:creator>
  <cp:lastModifiedBy>Daeyeop Kim</cp:lastModifiedBy>
  <cp:revision>2</cp:revision>
  <dcterms:created xsi:type="dcterms:W3CDTF">2025-04-08T00:39:03Z</dcterms:created>
  <dcterms:modified xsi:type="dcterms:W3CDTF">2026-02-02T00:18:32Z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0x01010078A69699893E904DB6B4570B5649B5D8</vt:lpwstr>
  </property>
</Properties>
</file>